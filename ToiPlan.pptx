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b00e021-859f-11a6-acdf-adb4ae9bdc04}">
          <p14:sldIdLst>
            <p14:sldId id="256"/>
          </p14:sldIdLst>
        </p14:section>
        <p14:section name="i. Problem overview" id="{d6dbe96b-7031-b8e5-95b3-010606167d5b}">
          <p14:sldIdLst>
            <p14:sldId id="257"/>
            <p14:sldId id="258"/>
            <p14:sldId id="259"/>
            <p14:sldId id="260"/>
          </p14:sldIdLst>
        </p14:section>
        <p14:section name="ii. Algorithm explained" id="{a94544c0-a437-0d7e-a26c-e77c3da6e512}">
          <p14:sldIdLst>
            <p14:sldId id="261"/>
            <p14:sldId id="262"/>
            <p14:sldId id="263"/>
            <p14:sldId id="264"/>
            <p14:sldId id="265"/>
            <p14:sldId id="266"/>
            <p14:sldId id="267"/>
          </p14:sldIdLst>
        </p14:section>
        <p14:section name="iii. Solution &amp; results" id="{6e6c14fd-929a-e6c2-537f-db7200fdbf56}">
          <p14:sldIdLst>
            <p14:sldId id="268"/>
            <p14:sldId id="269"/>
            <p14:sldId id="270"/>
            <p14:sldId id="271"/>
          </p14:sldIdLst>
        </p14:section>
        <p14:section name="Wrap-up" id="{e102a0de-7e77-679f-536e-ae0d6e940f45}">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Best plan</c:v>
                </c:pt>
              </c:strCache>
            </c:strRef>
          </c:tx>
          <c:spPr>
            <a:solidFill>
              <a:srgbClr val="C8102E"/>
            </a:solidFill>
            <a:ln w="25400" cap="flat">
              <a:solidFill>
                <a:srgbClr val="C810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102E"/>
              </a:solidFill>
              <a:ln w="9525" cap="flat">
                <a:solidFill>
                  <a:srgbClr val="C8102E"/>
                </a:solidFill>
                <a:prstDash val="solid"/>
                <a:round/>
              </a:ln>
              <a:effectLst/>
            </c:spPr>
          </c:marker>
          <c:cat>
            <c:multiLvlStrRef>
              <c:f>Sheet1!$A$2:$A$102</c:f>
              <c:multiLvlStrCache>
                <c:ptCount val="101"/>
                <c:lvl>
                  <c:pt idx="0">
                    <c:v>0</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200</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400</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600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800</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lvl>
              </c:multiLvlStrCache>
            </c:multiLvlStrRef>
          </c:cat>
          <c:val>
            <c:numRef>
              <c:f>Sheet1!$B$2:$B$102</c:f>
              <c:numCache>
                <c:formatCode>General</c:formatCode>
                <c:ptCount val="101"/>
                <c:pt idx="0">
                  <c:v>515</c:v>
                </c:pt>
                <c:pt idx="1">
                  <c:v>885</c:v>
                </c:pt>
                <c:pt idx="2">
                  <c:v>1115</c:v>
                </c:pt>
                <c:pt idx="3">
                  <c:v>1385</c:v>
                </c:pt>
                <c:pt idx="4">
                  <c:v>1520</c:v>
                </c:pt>
                <c:pt idx="5">
                  <c:v>1590</c:v>
                </c:pt>
                <c:pt idx="6">
                  <c:v>1650</c:v>
                </c:pt>
                <c:pt idx="7">
                  <c:v>1690</c:v>
                </c:pt>
                <c:pt idx="8">
                  <c:v>1785</c:v>
                </c:pt>
                <c:pt idx="9">
                  <c:v>1865</c:v>
                </c:pt>
                <c:pt idx="10">
                  <c:v>1945</c:v>
                </c:pt>
                <c:pt idx="11">
                  <c:v>2010</c:v>
                </c:pt>
                <c:pt idx="12">
                  <c:v>2040</c:v>
                </c:pt>
                <c:pt idx="13">
                  <c:v>2120</c:v>
                </c:pt>
                <c:pt idx="14">
                  <c:v>2140</c:v>
                </c:pt>
                <c:pt idx="15">
                  <c:v>2170</c:v>
                </c:pt>
                <c:pt idx="16">
                  <c:v>2200</c:v>
                </c:pt>
                <c:pt idx="17">
                  <c:v>2210</c:v>
                </c:pt>
                <c:pt idx="18">
                  <c:v>2240</c:v>
                </c:pt>
                <c:pt idx="19">
                  <c:v>2285</c:v>
                </c:pt>
                <c:pt idx="20">
                  <c:v>2290</c:v>
                </c:pt>
                <c:pt idx="21">
                  <c:v>2295</c:v>
                </c:pt>
                <c:pt idx="22">
                  <c:v>2315</c:v>
                </c:pt>
                <c:pt idx="23">
                  <c:v>2365</c:v>
                </c:pt>
                <c:pt idx="24">
                  <c:v>2380</c:v>
                </c:pt>
                <c:pt idx="25">
                  <c:v>2445</c:v>
                </c:pt>
                <c:pt idx="26">
                  <c:v>2445</c:v>
                </c:pt>
                <c:pt idx="27">
                  <c:v>2450</c:v>
                </c:pt>
                <c:pt idx="28">
                  <c:v>2480</c:v>
                </c:pt>
                <c:pt idx="29">
                  <c:v>2480</c:v>
                </c:pt>
                <c:pt idx="30">
                  <c:v>2480</c:v>
                </c:pt>
                <c:pt idx="31">
                  <c:v>2490</c:v>
                </c:pt>
                <c:pt idx="32">
                  <c:v>2490</c:v>
                </c:pt>
                <c:pt idx="33">
                  <c:v>2490</c:v>
                </c:pt>
                <c:pt idx="34">
                  <c:v>2490</c:v>
                </c:pt>
                <c:pt idx="35">
                  <c:v>2490</c:v>
                </c:pt>
                <c:pt idx="36">
                  <c:v>2520</c:v>
                </c:pt>
                <c:pt idx="37">
                  <c:v>2520</c:v>
                </c:pt>
                <c:pt idx="38">
                  <c:v>2520</c:v>
                </c:pt>
                <c:pt idx="39">
                  <c:v>2520</c:v>
                </c:pt>
                <c:pt idx="40">
                  <c:v>2550</c:v>
                </c:pt>
                <c:pt idx="41">
                  <c:v>2550</c:v>
                </c:pt>
                <c:pt idx="42">
                  <c:v>2550</c:v>
                </c:pt>
                <c:pt idx="43">
                  <c:v>2550</c:v>
                </c:pt>
                <c:pt idx="44">
                  <c:v>2550</c:v>
                </c:pt>
                <c:pt idx="45">
                  <c:v>2550</c:v>
                </c:pt>
                <c:pt idx="46">
                  <c:v>2550</c:v>
                </c:pt>
                <c:pt idx="47">
                  <c:v>2550</c:v>
                </c:pt>
                <c:pt idx="48">
                  <c:v>2550</c:v>
                </c:pt>
                <c:pt idx="49">
                  <c:v>2550</c:v>
                </c:pt>
                <c:pt idx="50">
                  <c:v>2550</c:v>
                </c:pt>
                <c:pt idx="51">
                  <c:v>2550</c:v>
                </c:pt>
                <c:pt idx="52">
                  <c:v>2550</c:v>
                </c:pt>
                <c:pt idx="53">
                  <c:v>2550</c:v>
                </c:pt>
                <c:pt idx="54">
                  <c:v>2550</c:v>
                </c:pt>
                <c:pt idx="55">
                  <c:v>2555</c:v>
                </c:pt>
                <c:pt idx="56">
                  <c:v>2555</c:v>
                </c:pt>
                <c:pt idx="57">
                  <c:v>2575</c:v>
                </c:pt>
                <c:pt idx="58">
                  <c:v>2575</c:v>
                </c:pt>
                <c:pt idx="59">
                  <c:v>2575</c:v>
                </c:pt>
                <c:pt idx="60">
                  <c:v>2575</c:v>
                </c:pt>
                <c:pt idx="61">
                  <c:v>2575</c:v>
                </c:pt>
                <c:pt idx="62">
                  <c:v>2575</c:v>
                </c:pt>
                <c:pt idx="63">
                  <c:v>2575</c:v>
                </c:pt>
                <c:pt idx="64">
                  <c:v>2575</c:v>
                </c:pt>
                <c:pt idx="65">
                  <c:v>2575</c:v>
                </c:pt>
                <c:pt idx="66">
                  <c:v>2575</c:v>
                </c:pt>
                <c:pt idx="67">
                  <c:v>2580</c:v>
                </c:pt>
                <c:pt idx="68">
                  <c:v>2580</c:v>
                </c:pt>
                <c:pt idx="69">
                  <c:v>2580</c:v>
                </c:pt>
                <c:pt idx="70">
                  <c:v>2580</c:v>
                </c:pt>
                <c:pt idx="71">
                  <c:v>2580</c:v>
                </c:pt>
                <c:pt idx="72">
                  <c:v>2580</c:v>
                </c:pt>
                <c:pt idx="73">
                  <c:v>2580</c:v>
                </c:pt>
                <c:pt idx="74">
                  <c:v>2580</c:v>
                </c:pt>
                <c:pt idx="75">
                  <c:v>2580</c:v>
                </c:pt>
                <c:pt idx="76">
                  <c:v>2580</c:v>
                </c:pt>
                <c:pt idx="77">
                  <c:v>2605</c:v>
                </c:pt>
                <c:pt idx="78">
                  <c:v>2605</c:v>
                </c:pt>
                <c:pt idx="79">
                  <c:v>2605</c:v>
                </c:pt>
                <c:pt idx="80">
                  <c:v>2605</c:v>
                </c:pt>
                <c:pt idx="81">
                  <c:v>2625</c:v>
                </c:pt>
                <c:pt idx="82">
                  <c:v>2625</c:v>
                </c:pt>
                <c:pt idx="83">
                  <c:v>2625</c:v>
                </c:pt>
                <c:pt idx="84">
                  <c:v>2625</c:v>
                </c:pt>
                <c:pt idx="85">
                  <c:v>2625</c:v>
                </c:pt>
                <c:pt idx="86">
                  <c:v>2625</c:v>
                </c:pt>
                <c:pt idx="87">
                  <c:v>2625</c:v>
                </c:pt>
                <c:pt idx="88">
                  <c:v>2625</c:v>
                </c:pt>
                <c:pt idx="89">
                  <c:v>2625</c:v>
                </c:pt>
                <c:pt idx="90">
                  <c:v>2625</c:v>
                </c:pt>
                <c:pt idx="91">
                  <c:v>2625</c:v>
                </c:pt>
                <c:pt idx="92">
                  <c:v>2625</c:v>
                </c:pt>
                <c:pt idx="93">
                  <c:v>2625</c:v>
                </c:pt>
                <c:pt idx="94">
                  <c:v>2625</c:v>
                </c:pt>
                <c:pt idx="95">
                  <c:v>2625</c:v>
                </c:pt>
                <c:pt idx="96">
                  <c:v>2625</c:v>
                </c:pt>
                <c:pt idx="97">
                  <c:v>2625</c:v>
                </c:pt>
                <c:pt idx="98">
                  <c:v>2625</c:v>
                </c:pt>
                <c:pt idx="99">
                  <c:v>2625</c:v>
                </c:pt>
                <c:pt idx="100">
                  <c:v>2625</c:v>
                </c:pt>
              </c:numCache>
            </c:numRef>
          </c:val>
          <c:smooth val="0"/>
        </c:ser>
        <c:ser>
          <c:idx val="1"/>
          <c:order val="1"/>
          <c:tx>
            <c:strRef>
              <c:f>Sheet1!$C$1</c:f>
              <c:strCache>
                <c:ptCount val="1"/>
                <c:pt idx="0">
                  <c:v>Average plan</c:v>
                </c:pt>
              </c:strCache>
            </c:strRef>
          </c:tx>
          <c:spPr>
            <a:solidFill>
              <a:srgbClr val="1B998B"/>
            </a:solidFill>
            <a:ln w="25400" cap="flat">
              <a:solidFill>
                <a:srgbClr val="1B998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B998B"/>
              </a:solidFill>
              <a:ln w="9525" cap="flat">
                <a:solidFill>
                  <a:srgbClr val="1B998B"/>
                </a:solidFill>
                <a:prstDash val="solid"/>
                <a:round/>
              </a:ln>
              <a:effectLst/>
            </c:spPr>
          </c:marker>
          <c:cat>
            <c:multiLvlStrRef>
              <c:f>Sheet1!$A$2:$A$102</c:f>
              <c:multiLvlStrCache>
                <c:ptCount val="101"/>
                <c:lvl>
                  <c:pt idx="0">
                    <c:v>0</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200</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400</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600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800</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lvl>
              </c:multiLvlStrCache>
            </c:multiLvlStrRef>
          </c:cat>
          <c:val>
            <c:numRef>
              <c:f>Sheet1!$C$2:$C$102</c:f>
              <c:numCache>
                <c:formatCode>General</c:formatCode>
                <c:ptCount val="101"/>
                <c:pt idx="0">
                  <c:v>100</c:v>
                </c:pt>
                <c:pt idx="1">
                  <c:v>650</c:v>
                </c:pt>
                <c:pt idx="2">
                  <c:v>948</c:v>
                </c:pt>
                <c:pt idx="3">
                  <c:v>1199</c:v>
                </c:pt>
                <c:pt idx="4">
                  <c:v>1391</c:v>
                </c:pt>
                <c:pt idx="5">
                  <c:v>1488</c:v>
                </c:pt>
                <c:pt idx="6">
                  <c:v>1551</c:v>
                </c:pt>
                <c:pt idx="7">
                  <c:v>1609</c:v>
                </c:pt>
                <c:pt idx="8">
                  <c:v>1669</c:v>
                </c:pt>
                <c:pt idx="9">
                  <c:v>1791</c:v>
                </c:pt>
                <c:pt idx="10">
                  <c:v>1866</c:v>
                </c:pt>
                <c:pt idx="11">
                  <c:v>1919</c:v>
                </c:pt>
                <c:pt idx="12">
                  <c:v>1996</c:v>
                </c:pt>
                <c:pt idx="13">
                  <c:v>1987</c:v>
                </c:pt>
                <c:pt idx="14">
                  <c:v>2084</c:v>
                </c:pt>
                <c:pt idx="15">
                  <c:v>2100</c:v>
                </c:pt>
                <c:pt idx="16">
                  <c:v>2132</c:v>
                </c:pt>
                <c:pt idx="17">
                  <c:v>2144</c:v>
                </c:pt>
                <c:pt idx="18">
                  <c:v>2124</c:v>
                </c:pt>
                <c:pt idx="19">
                  <c:v>2217</c:v>
                </c:pt>
                <c:pt idx="20">
                  <c:v>2190</c:v>
                </c:pt>
                <c:pt idx="21">
                  <c:v>2270</c:v>
                </c:pt>
                <c:pt idx="22">
                  <c:v>2277</c:v>
                </c:pt>
                <c:pt idx="23">
                  <c:v>2295</c:v>
                </c:pt>
                <c:pt idx="24">
                  <c:v>2321</c:v>
                </c:pt>
                <c:pt idx="25">
                  <c:v>2362</c:v>
                </c:pt>
                <c:pt idx="26">
                  <c:v>2422</c:v>
                </c:pt>
                <c:pt idx="27">
                  <c:v>2383</c:v>
                </c:pt>
                <c:pt idx="28">
                  <c:v>2420</c:v>
                </c:pt>
                <c:pt idx="29">
                  <c:v>2430</c:v>
                </c:pt>
                <c:pt idx="30">
                  <c:v>2452</c:v>
                </c:pt>
                <c:pt idx="31">
                  <c:v>2445</c:v>
                </c:pt>
                <c:pt idx="32">
                  <c:v>2456</c:v>
                </c:pt>
                <c:pt idx="33">
                  <c:v>2455</c:v>
                </c:pt>
                <c:pt idx="34">
                  <c:v>2465</c:v>
                </c:pt>
                <c:pt idx="35">
                  <c:v>2448</c:v>
                </c:pt>
                <c:pt idx="36">
                  <c:v>2459</c:v>
                </c:pt>
                <c:pt idx="37">
                  <c:v>2488</c:v>
                </c:pt>
                <c:pt idx="38">
                  <c:v>2493</c:v>
                </c:pt>
                <c:pt idx="39">
                  <c:v>2494</c:v>
                </c:pt>
                <c:pt idx="40">
                  <c:v>2480</c:v>
                </c:pt>
                <c:pt idx="41">
                  <c:v>2517</c:v>
                </c:pt>
                <c:pt idx="42">
                  <c:v>2529</c:v>
                </c:pt>
                <c:pt idx="43">
                  <c:v>2515</c:v>
                </c:pt>
                <c:pt idx="44">
                  <c:v>2517</c:v>
                </c:pt>
                <c:pt idx="45">
                  <c:v>2514</c:v>
                </c:pt>
                <c:pt idx="46">
                  <c:v>2514</c:v>
                </c:pt>
                <c:pt idx="47">
                  <c:v>2518</c:v>
                </c:pt>
                <c:pt idx="48">
                  <c:v>2521</c:v>
                </c:pt>
                <c:pt idx="49">
                  <c:v>2517</c:v>
                </c:pt>
                <c:pt idx="50">
                  <c:v>2526</c:v>
                </c:pt>
                <c:pt idx="51">
                  <c:v>2524</c:v>
                </c:pt>
                <c:pt idx="52">
                  <c:v>2516</c:v>
                </c:pt>
                <c:pt idx="53">
                  <c:v>2529</c:v>
                </c:pt>
                <c:pt idx="54">
                  <c:v>2528</c:v>
                </c:pt>
                <c:pt idx="55">
                  <c:v>2502</c:v>
                </c:pt>
                <c:pt idx="56">
                  <c:v>2521</c:v>
                </c:pt>
                <c:pt idx="57">
                  <c:v>2548</c:v>
                </c:pt>
                <c:pt idx="58">
                  <c:v>2541</c:v>
                </c:pt>
                <c:pt idx="59">
                  <c:v>2539</c:v>
                </c:pt>
                <c:pt idx="60">
                  <c:v>2559</c:v>
                </c:pt>
                <c:pt idx="61">
                  <c:v>2547</c:v>
                </c:pt>
                <c:pt idx="62">
                  <c:v>2555</c:v>
                </c:pt>
                <c:pt idx="63">
                  <c:v>2555</c:v>
                </c:pt>
                <c:pt idx="64">
                  <c:v>2535</c:v>
                </c:pt>
                <c:pt idx="65">
                  <c:v>2551</c:v>
                </c:pt>
                <c:pt idx="66">
                  <c:v>2546</c:v>
                </c:pt>
                <c:pt idx="67">
                  <c:v>2541</c:v>
                </c:pt>
                <c:pt idx="68">
                  <c:v>2566</c:v>
                </c:pt>
                <c:pt idx="69">
                  <c:v>2545</c:v>
                </c:pt>
                <c:pt idx="70">
                  <c:v>2556</c:v>
                </c:pt>
                <c:pt idx="71">
                  <c:v>2550</c:v>
                </c:pt>
                <c:pt idx="72">
                  <c:v>2557</c:v>
                </c:pt>
                <c:pt idx="73">
                  <c:v>2551</c:v>
                </c:pt>
                <c:pt idx="74">
                  <c:v>2552</c:v>
                </c:pt>
                <c:pt idx="75">
                  <c:v>2561</c:v>
                </c:pt>
                <c:pt idx="76">
                  <c:v>2560</c:v>
                </c:pt>
                <c:pt idx="77">
                  <c:v>2572</c:v>
                </c:pt>
                <c:pt idx="78">
                  <c:v>2580</c:v>
                </c:pt>
                <c:pt idx="79">
                  <c:v>2578</c:v>
                </c:pt>
                <c:pt idx="80">
                  <c:v>2576</c:v>
                </c:pt>
                <c:pt idx="81">
                  <c:v>2598</c:v>
                </c:pt>
                <c:pt idx="82">
                  <c:v>2588</c:v>
                </c:pt>
                <c:pt idx="83">
                  <c:v>2587</c:v>
                </c:pt>
                <c:pt idx="84">
                  <c:v>2600</c:v>
                </c:pt>
                <c:pt idx="85">
                  <c:v>2599</c:v>
                </c:pt>
                <c:pt idx="86">
                  <c:v>2589</c:v>
                </c:pt>
                <c:pt idx="87">
                  <c:v>2597</c:v>
                </c:pt>
                <c:pt idx="88">
                  <c:v>2594</c:v>
                </c:pt>
                <c:pt idx="89">
                  <c:v>2604</c:v>
                </c:pt>
                <c:pt idx="90">
                  <c:v>2594</c:v>
                </c:pt>
                <c:pt idx="91">
                  <c:v>2599</c:v>
                </c:pt>
                <c:pt idx="92">
                  <c:v>2590</c:v>
                </c:pt>
                <c:pt idx="93">
                  <c:v>2593</c:v>
                </c:pt>
                <c:pt idx="94">
                  <c:v>2591</c:v>
                </c:pt>
                <c:pt idx="95">
                  <c:v>2596</c:v>
                </c:pt>
                <c:pt idx="96">
                  <c:v>2604</c:v>
                </c:pt>
                <c:pt idx="97">
                  <c:v>2591</c:v>
                </c:pt>
                <c:pt idx="98">
                  <c:v>2598</c:v>
                </c:pt>
                <c:pt idx="99">
                  <c:v>2600</c:v>
                </c:pt>
                <c:pt idx="100">
                  <c:v>2603</c:v>
                </c:pt>
              </c:numCache>
            </c:numRef>
          </c:val>
          <c:smooth val="0"/>
        </c:ser>
        <c:ser>
          <c:idx val="2"/>
          <c:order val="2"/>
          <c:tx>
            <c:strRef>
              <c:f>Sheet1!$D$1</c:f>
              <c:strCache>
                <c:ptCount val="1"/>
                <c:pt idx="0">
                  <c:v>Best of 100,000 random seatings</c:v>
                </c:pt>
              </c:strCache>
            </c:strRef>
          </c:tx>
          <c:spPr>
            <a:solidFill>
              <a:srgbClr val="7D7177"/>
            </a:solidFill>
            <a:ln w="25400" cap="flat">
              <a:solidFill>
                <a:srgbClr val="7D717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D7177"/>
              </a:solidFill>
              <a:ln w="9525" cap="flat">
                <a:solidFill>
                  <a:srgbClr val="7D7177"/>
                </a:solidFill>
                <a:prstDash val="solid"/>
                <a:round/>
              </a:ln>
              <a:effectLst/>
            </c:spPr>
          </c:marker>
          <c:cat>
            <c:multiLvlStrRef>
              <c:f>Sheet1!$A$2:$A$102</c:f>
              <c:multiLvlStrCache>
                <c:ptCount val="101"/>
                <c:lvl>
                  <c:pt idx="0">
                    <c:v>0</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200</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400</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600</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
                  </c:pt>
                  <c:pt idx="80">
                    <c:v>800</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lvl>
              </c:multiLvlStrCache>
            </c:multiLvlStrRef>
          </c:cat>
          <c:val>
            <c:numRef>
              <c:f>Sheet1!$D$2:$D$102</c:f>
              <c:numCache>
                <c:formatCode>General</c:formatCode>
                <c:ptCount val="101"/>
                <c:pt idx="0">
                  <c:v>815</c:v>
                </c:pt>
                <c:pt idx="1">
                  <c:v>815</c:v>
                </c:pt>
                <c:pt idx="2">
                  <c:v>815</c:v>
                </c:pt>
                <c:pt idx="3">
                  <c:v>815</c:v>
                </c:pt>
                <c:pt idx="4">
                  <c:v>815</c:v>
                </c:pt>
                <c:pt idx="5">
                  <c:v>815</c:v>
                </c:pt>
                <c:pt idx="6">
                  <c:v>815</c:v>
                </c:pt>
                <c:pt idx="7">
                  <c:v>815</c:v>
                </c:pt>
                <c:pt idx="8">
                  <c:v>815</c:v>
                </c:pt>
                <c:pt idx="9">
                  <c:v>815</c:v>
                </c:pt>
                <c:pt idx="10">
                  <c:v>815</c:v>
                </c:pt>
                <c:pt idx="11">
                  <c:v>815</c:v>
                </c:pt>
                <c:pt idx="12">
                  <c:v>815</c:v>
                </c:pt>
                <c:pt idx="13">
                  <c:v>815</c:v>
                </c:pt>
                <c:pt idx="14">
                  <c:v>815</c:v>
                </c:pt>
                <c:pt idx="15">
                  <c:v>815</c:v>
                </c:pt>
                <c:pt idx="16">
                  <c:v>815</c:v>
                </c:pt>
                <c:pt idx="17">
                  <c:v>815</c:v>
                </c:pt>
                <c:pt idx="18">
                  <c:v>815</c:v>
                </c:pt>
                <c:pt idx="19">
                  <c:v>815</c:v>
                </c:pt>
                <c:pt idx="20">
                  <c:v>815</c:v>
                </c:pt>
                <c:pt idx="21">
                  <c:v>815</c:v>
                </c:pt>
                <c:pt idx="22">
                  <c:v>815</c:v>
                </c:pt>
                <c:pt idx="23">
                  <c:v>815</c:v>
                </c:pt>
                <c:pt idx="24">
                  <c:v>815</c:v>
                </c:pt>
                <c:pt idx="25">
                  <c:v>815</c:v>
                </c:pt>
                <c:pt idx="26">
                  <c:v>815</c:v>
                </c:pt>
                <c:pt idx="27">
                  <c:v>815</c:v>
                </c:pt>
                <c:pt idx="28">
                  <c:v>815</c:v>
                </c:pt>
                <c:pt idx="29">
                  <c:v>815</c:v>
                </c:pt>
                <c:pt idx="30">
                  <c:v>815</c:v>
                </c:pt>
                <c:pt idx="31">
                  <c:v>815</c:v>
                </c:pt>
                <c:pt idx="32">
                  <c:v>815</c:v>
                </c:pt>
                <c:pt idx="33">
                  <c:v>815</c:v>
                </c:pt>
                <c:pt idx="34">
                  <c:v>815</c:v>
                </c:pt>
                <c:pt idx="35">
                  <c:v>815</c:v>
                </c:pt>
                <c:pt idx="36">
                  <c:v>815</c:v>
                </c:pt>
                <c:pt idx="37">
                  <c:v>815</c:v>
                </c:pt>
                <c:pt idx="38">
                  <c:v>815</c:v>
                </c:pt>
                <c:pt idx="39">
                  <c:v>815</c:v>
                </c:pt>
                <c:pt idx="40">
                  <c:v>815</c:v>
                </c:pt>
                <c:pt idx="41">
                  <c:v>815</c:v>
                </c:pt>
                <c:pt idx="42">
                  <c:v>815</c:v>
                </c:pt>
                <c:pt idx="43">
                  <c:v>815</c:v>
                </c:pt>
                <c:pt idx="44">
                  <c:v>815</c:v>
                </c:pt>
                <c:pt idx="45">
                  <c:v>815</c:v>
                </c:pt>
                <c:pt idx="46">
                  <c:v>815</c:v>
                </c:pt>
                <c:pt idx="47">
                  <c:v>815</c:v>
                </c:pt>
                <c:pt idx="48">
                  <c:v>815</c:v>
                </c:pt>
                <c:pt idx="49">
                  <c:v>815</c:v>
                </c:pt>
                <c:pt idx="50">
                  <c:v>815</c:v>
                </c:pt>
                <c:pt idx="51">
                  <c:v>815</c:v>
                </c:pt>
                <c:pt idx="52">
                  <c:v>815</c:v>
                </c:pt>
                <c:pt idx="53">
                  <c:v>815</c:v>
                </c:pt>
                <c:pt idx="54">
                  <c:v>815</c:v>
                </c:pt>
                <c:pt idx="55">
                  <c:v>815</c:v>
                </c:pt>
                <c:pt idx="56">
                  <c:v>815</c:v>
                </c:pt>
                <c:pt idx="57">
                  <c:v>815</c:v>
                </c:pt>
                <c:pt idx="58">
                  <c:v>815</c:v>
                </c:pt>
                <c:pt idx="59">
                  <c:v>815</c:v>
                </c:pt>
                <c:pt idx="60">
                  <c:v>815</c:v>
                </c:pt>
                <c:pt idx="61">
                  <c:v>815</c:v>
                </c:pt>
                <c:pt idx="62">
                  <c:v>815</c:v>
                </c:pt>
                <c:pt idx="63">
                  <c:v>815</c:v>
                </c:pt>
                <c:pt idx="64">
                  <c:v>815</c:v>
                </c:pt>
                <c:pt idx="65">
                  <c:v>815</c:v>
                </c:pt>
                <c:pt idx="66">
                  <c:v>815</c:v>
                </c:pt>
                <c:pt idx="67">
                  <c:v>815</c:v>
                </c:pt>
                <c:pt idx="68">
                  <c:v>815</c:v>
                </c:pt>
                <c:pt idx="69">
                  <c:v>815</c:v>
                </c:pt>
                <c:pt idx="70">
                  <c:v>815</c:v>
                </c:pt>
                <c:pt idx="71">
                  <c:v>815</c:v>
                </c:pt>
                <c:pt idx="72">
                  <c:v>815</c:v>
                </c:pt>
                <c:pt idx="73">
                  <c:v>815</c:v>
                </c:pt>
                <c:pt idx="74">
                  <c:v>815</c:v>
                </c:pt>
                <c:pt idx="75">
                  <c:v>815</c:v>
                </c:pt>
                <c:pt idx="76">
                  <c:v>815</c:v>
                </c:pt>
                <c:pt idx="77">
                  <c:v>815</c:v>
                </c:pt>
                <c:pt idx="78">
                  <c:v>815</c:v>
                </c:pt>
                <c:pt idx="79">
                  <c:v>815</c:v>
                </c:pt>
                <c:pt idx="80">
                  <c:v>815</c:v>
                </c:pt>
                <c:pt idx="81">
                  <c:v>815</c:v>
                </c:pt>
                <c:pt idx="82">
                  <c:v>815</c:v>
                </c:pt>
                <c:pt idx="83">
                  <c:v>815</c:v>
                </c:pt>
                <c:pt idx="84">
                  <c:v>815</c:v>
                </c:pt>
                <c:pt idx="85">
                  <c:v>815</c:v>
                </c:pt>
                <c:pt idx="86">
                  <c:v>815</c:v>
                </c:pt>
                <c:pt idx="87">
                  <c:v>815</c:v>
                </c:pt>
                <c:pt idx="88">
                  <c:v>815</c:v>
                </c:pt>
                <c:pt idx="89">
                  <c:v>815</c:v>
                </c:pt>
                <c:pt idx="90">
                  <c:v>815</c:v>
                </c:pt>
                <c:pt idx="91">
                  <c:v>815</c:v>
                </c:pt>
                <c:pt idx="92">
                  <c:v>815</c:v>
                </c:pt>
                <c:pt idx="93">
                  <c:v>815</c:v>
                </c:pt>
                <c:pt idx="94">
                  <c:v>815</c:v>
                </c:pt>
                <c:pt idx="95">
                  <c:v>815</c:v>
                </c:pt>
                <c:pt idx="96">
                  <c:v>815</c:v>
                </c:pt>
                <c:pt idx="97">
                  <c:v>815</c:v>
                </c:pt>
                <c:pt idx="98">
                  <c:v>815</c:v>
                </c:pt>
                <c:pt idx="99">
                  <c:v>815</c:v>
                </c:pt>
                <c:pt idx="100">
                  <c:v>815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300" b="0" i="0" u="none" strike="noStrike">
                    <a:solidFill>
                      <a:srgbClr val="7D7177"/>
                    </a:solidFill>
                    <a:latin typeface="+mn-lt"/>
                  </a:defRPr>
                </a:pPr>
                <a:r>
                  <a:rPr sz="1300" b="0" i="0" u="none" strike="noStrike">
                    <a:solidFill>
                      <a:srgbClr val="7D7177"/>
                    </a:solidFill>
                    <a:latin typeface="+mn-lt"/>
                  </a:rPr>
                  <a:t>generation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D7177"/>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DADD"/>
              </a:solidFill>
              <a:prstDash val="solid"/>
              <a:round/>
            </a:ln>
          </c:spPr>
        </c:majorGridlines>
        <c:title>
          <c:tx>
            <c:rich>
              <a:bodyPr/>
              <a:lstStyle/>
              <a:p>
                <a:pPr>
                  <a:defRPr sz="1300" b="0" i="0" u="none" strike="noStrike">
                    <a:solidFill>
                      <a:srgbClr val="7D7177"/>
                    </a:solidFill>
                    <a:latin typeface="+mn-lt"/>
                  </a:defRPr>
                </a:pPr>
                <a:r>
                  <a:rPr sz="1300" b="0" i="0" u="none" strike="noStrike">
                    <a:solidFill>
                      <a:srgbClr val="7D7177"/>
                    </a:solidFill>
                    <a:latin typeface="+mn-lt"/>
                  </a:rPr>
                  <a:t>happiness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D71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2A1A1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2A1A1F"/>
                </a:solidFill>
                <a:latin typeface="+mn-lt"/>
              </a:defRPr>
            </a:pPr>
            <a:r>
              <a:rPr sz="1600" b="0" i="0" u="none" strike="noStrike">
                <a:solidFill>
                  <a:srgbClr val="2A1A1F"/>
                </a:solidFill>
                <a:latin typeface="+mn-lt"/>
              </a:rPr>
              <a:t>Happiness score (higher is better)</a:t>
            </a:r>
          </a:p>
        </c:rich>
      </c:tx>
      <c:layout/>
      <c:overlay val="0"/>
    </c:title>
    <c:autoTitleDeleted val="0"/>
    <c:plotArea>
      <c:layout/>
      <c:barChart>
        <c:barDir val="col"/>
        <c:grouping val="clustered"/>
        <c:varyColors val="0"/>
        <c:ser>
          <c:idx val="0"/>
          <c:order val="0"/>
          <c:tx>
            <c:strRef>
              <c:f>Sheet1!$B$1</c:f>
              <c:strCache>
                <c:ptCount val="1"/>
                <c:pt idx="0">
                  <c:v>Happiness</c:v>
                </c:pt>
              </c:strCache>
            </c:strRef>
          </c:tx>
          <c:spPr>
            <a:solidFill>
              <a:srgbClr val="7D7177"/>
            </a:solidFill>
            <a:effectLst/>
          </c:spPr>
          <c:invertIfNegative val="0"/>
          <c:dLbls>
            <c:numFmt formatCode="#,##0" sourceLinked="0"/>
            <c:txPr>
              <a:bodyPr/>
              <a:lstStyle/>
              <a:p>
                <a:pPr>
                  <a:defRPr b="1" i="0" strike="noStrike" sz="1500" u="none">
                    <a:solidFill>
                      <a:srgbClr val="2A1A1F"/>
                    </a:solidFill>
                    <a:latin typeface="+mn-lt"/>
                  </a:defRPr>
                </a:pPr>
              </a:p>
            </c:txPr>
            <c:showLegendKey val="0"/>
            <c:showVal val="1"/>
            <c:showCatName val="0"/>
            <c:showSerName val="0"/>
            <c:showPercent val="0"/>
            <c:showBubbleSize val="0"/>
            <c:showLeaderLines val="0"/>
          </c:dLbls>
          <c:dPt>
            <c:idx val="0"/>
            <c:invertIfNegative val="0"/>
            <c:bubble3D val="0"/>
            <c:spPr>
              <a:solidFill>
                <a:srgbClr val="7D7177"/>
              </a:solidFill>
              <a:effectLst/>
            </c:spPr>
          </c:dPt>
          <c:dPt>
            <c:idx val="1"/>
            <c:invertIfNegative val="0"/>
            <c:bubble3D val="0"/>
            <c:spPr>
              <a:solidFill>
                <a:srgbClr val="7D7177"/>
              </a:solidFill>
              <a:effectLst/>
            </c:spPr>
          </c:dPt>
          <c:dPt>
            <c:idx val="2"/>
            <c:invertIfNegative val="0"/>
            <c:bubble3D val="0"/>
            <c:spPr>
              <a:solidFill>
                <a:srgbClr val="C8102E"/>
              </a:solidFill>
              <a:effectLst/>
            </c:spPr>
          </c:dPt>
          <c:cat>
            <c:multiLvlStrRef>
              <c:f>Sheet1!$A$2:$A$4</c:f>
              <c:multiLvlStrCache>
                <c:ptCount val="3"/>
                <c:lvl>
                  <c:pt idx="0">
                    <c:v>Random seating</c:v>
                  </c:pt>
                  <c:pt idx="1">
                    <c:v>Best of 100,000 random</c:v>
                  </c:pt>
                  <c:pt idx="2">
                    <c:v>Genetic Algorithm</c:v>
                  </c:pt>
                </c:lvl>
              </c:multiLvlStrCache>
            </c:multiLvlStrRef>
          </c:cat>
          <c:val>
            <c:numRef>
              <c:f>Sheet1!$B$2:$B$4</c:f>
              <c:numCache>
                <c:formatCode>General</c:formatCode>
                <c:ptCount val="3"/>
                <c:pt idx="0">
                  <c:v>-10</c:v>
                </c:pt>
                <c:pt idx="1">
                  <c:v>815</c:v>
                </c:pt>
                <c:pt idx="2">
                  <c:v>2625</c:v>
                </c:pt>
              </c:numCache>
            </c:numRef>
          </c:val>
        </c:ser>
        <c:dLbls>
          <c:numFmt formatCode="#,##0" sourceLinked="0"/>
          <c:txPr>
            <a:bodyPr/>
            <a:lstStyle/>
            <a:p>
              <a:pPr>
                <a:defRPr b="1" i="0" strike="noStrike" sz="1500" u="none">
                  <a:solidFill>
                    <a:srgbClr val="2A1A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2A1A1F"/>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DAD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D717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ToiPlan. Everyone in this room has been to a toi, and everyone has seen the drama about who sits where. Today we show how a Genetic Algorithm solves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toi problem: relatives who must sit together, aunties who must never sit together, and elders who expect the tör. Organisers spend days on paper lists, and someone is always offended.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test toi: 100 guests, 10 tables with exactly 10 seats, 19 families, 8 elders and 25 feuds. The goal is to maximise one number, the happiness score, built from these four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about 10^92.4 ways to seat 100 guests at 10 tables of 10. That is more than the atoms in the universe. Even at a billion seatings per second, brute force would take ~10^76 years. The problem is a balanced graph partitioning problem, which is NP-hard, so we use a metaheuristic.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the same optimisation appears at weddings, exams, offices, conferences and even when forming student groups. ToiPlan's market is every event that has seats.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Genetic Algorithm copies natural selection: keep a population of solutions, let the best ones have children, add small random changes, and repeat. Good seating plans survive, bad ones die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start with 100 random plans, score them, pick parents with a tournament, mix them with crossover, add a small mutation, and repeat for 1000 generations. Steps 2 to 5 repeat; at the end we return the best plan 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Encoding: a plan is a permutation of the 100 guest ids. The first 10 positions are the tör, the next 10 are table 2, and so on. Because it is a permutation, every guest is seated exactly once and every table has exactly 10 guests, so the capacity rule is satisfied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fitness function adds up points for every pair of guests at the same table, plus a bonus for each elder at the tör. Feuds cost so much that one feud outweighs ten happy relative pairs, so the GA learns to avoid them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we pick 3 random plans and the happiest wins the right to be a parent, so good plans have more children. Crossover: the child copies a block of seats from Mom and fills the remaining seats with the other guests in the order they appear in Dad. The result is always a valid seating.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Mutation swaps two random guests. It keeps the population diverse so the search does not get stuck. Elitism copies the 2 best plans unchanged, so we never lose the best plan found so far. The table shows the settings we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algorithm. The real Python code in our repository follows these lines one 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 line is the best plan in each generation, the teal line the average. Generation 0 is random chaos. After only 6 generations the GA already beats the best of 100,000 random seatings. By generation 300 it reaches 94% of its final happiness, then it fine-tunes.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a random seating. Colours are families, stars are elders, red lines are feuds at the same table. Families are scattered and elders are everywhere. Right: the GA seating. Families sit together, all elders are at the tör and there are no red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 comparison: random search also gets 100,000 tries, the same number of fitness evaluations as the GA. Random search can avoid feuds, but it cannot get families together or all elders to the tör. The GA does all of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the GA always satisfies the hard rules and improves quickly at the start. The weights decide the trade-offs, so friends get less attention than relatives. Like every metaheuristic, it gives no proof of optimality. Next steps for ToiPlan: a Telegram bot, more rules, and a hybrid GA with local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611880"/>
            <a:ext cx="10698480" cy="822960"/>
          </a:xfrm>
          <a:prstGeom prst="rect">
            <a:avLst/>
          </a:prstGeom>
          <a:noFill/>
          <a:ln/>
        </p:spPr>
        <p:txBody>
          <a:bodyPr wrap="square" rtlCol="0"/>
          <a:lstStyle>
            <a:lvl1pPr indent="0" marL="0">
              <a:buNone/>
              <a:defRPr lang="en-US" sz="2600" dirty="0">
                <a:solidFill>
                  <a:schemeClr val="accent2"/>
                </a:solidFill>
              </a:defRPr>
            </a:lvl1pPr>
          </a:lstStyle>
          <a:p>
            <a:pPr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I">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600" b="1" dirty="0">
                <a:solidFill>
                  <a:schemeClr val="tx2"/>
                </a:solidFill>
              </a:defRPr>
            </a:lvl1pPr>
          </a:lstStyle>
          <a:p>
            <a:pPr indent="0" marL="0">
              <a:buNone/>
            </a:pPr>
            <a:endParaRPr lang="en-US" sz="3600" dirty="0"/>
          </a:p>
        </p:txBody>
      </p:sp>
      <p:sp>
        <p:nvSpPr>
          <p:cNvPr id="3" name="Text 0"/>
          <p:cNvSpPr/>
          <p:nvPr/>
        </p:nvSpPr>
        <p:spPr>
          <a:xfrm>
            <a:off x="548640" y="6355080"/>
            <a:ext cx="5486400" cy="320040"/>
          </a:xfrm>
          <a:prstGeom prst="rect">
            <a:avLst/>
          </a:prstGeom>
          <a:noFill/>
          <a:ln/>
        </p:spPr>
        <p:txBody>
          <a:bodyPr wrap="square" lIns="0" tIns="0" rIns="0" bIns="0" rtlCol="0" anchor="ctr"/>
          <a:lstStyle/>
          <a:p>
            <a:pPr indent="0" marL="0">
              <a:buNone/>
            </a:pPr>
            <a:r>
              <a:rPr lang="en-US" sz="1100" dirty="0">
                <a:solidFill>
                  <a:schemeClr val="accent6"/>
                </a:solidFill>
              </a:rPr>
              <a:t>ToiPlan  ·  i. Problem overview</a:t>
            </a:r>
            <a:endParaRPr lang="en-US" sz="11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II">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600" b="1" dirty="0">
                <a:solidFill>
                  <a:schemeClr val="tx2"/>
                </a:solidFill>
              </a:defRPr>
            </a:lvl1pPr>
          </a:lstStyle>
          <a:p>
            <a:pPr indent="0" marL="0">
              <a:buNone/>
            </a:pPr>
            <a:endParaRPr lang="en-US" sz="3600" dirty="0"/>
          </a:p>
        </p:txBody>
      </p:sp>
      <p:sp>
        <p:nvSpPr>
          <p:cNvPr id="3" name="Text 0"/>
          <p:cNvSpPr/>
          <p:nvPr/>
        </p:nvSpPr>
        <p:spPr>
          <a:xfrm>
            <a:off x="548640" y="6355080"/>
            <a:ext cx="5486400" cy="320040"/>
          </a:xfrm>
          <a:prstGeom prst="rect">
            <a:avLst/>
          </a:prstGeom>
          <a:noFill/>
          <a:ln/>
        </p:spPr>
        <p:txBody>
          <a:bodyPr wrap="square" lIns="0" tIns="0" rIns="0" bIns="0" rtlCol="0" anchor="ctr"/>
          <a:lstStyle/>
          <a:p>
            <a:pPr indent="0" marL="0">
              <a:buNone/>
            </a:pPr>
            <a:r>
              <a:rPr lang="en-US" sz="1100" dirty="0">
                <a:solidFill>
                  <a:schemeClr val="accent6"/>
                </a:solidFill>
              </a:rPr>
              <a:t>ToiPlan  ·  ii. Algorithm explained</a:t>
            </a:r>
            <a:endParaRPr lang="en-US" sz="11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III">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600" b="1" dirty="0">
                <a:solidFill>
                  <a:schemeClr val="tx2"/>
                </a:solidFill>
              </a:defRPr>
            </a:lvl1pPr>
          </a:lstStyle>
          <a:p>
            <a:pPr indent="0" marL="0">
              <a:buNone/>
            </a:pPr>
            <a:endParaRPr lang="en-US" sz="3600" dirty="0"/>
          </a:p>
        </p:txBody>
      </p:sp>
      <p:sp>
        <p:nvSpPr>
          <p:cNvPr id="3" name="Text 0"/>
          <p:cNvSpPr/>
          <p:nvPr/>
        </p:nvSpPr>
        <p:spPr>
          <a:xfrm>
            <a:off x="548640" y="6355080"/>
            <a:ext cx="5486400" cy="320040"/>
          </a:xfrm>
          <a:prstGeom prst="rect">
            <a:avLst/>
          </a:prstGeom>
          <a:noFill/>
          <a:ln/>
        </p:spPr>
        <p:txBody>
          <a:bodyPr wrap="square" lIns="0" tIns="0" rIns="0" bIns="0" rtlCol="0" anchor="ctr"/>
          <a:lstStyle/>
          <a:p>
            <a:pPr indent="0" marL="0">
              <a:buNone/>
            </a:pPr>
            <a:r>
              <a:rPr lang="en-US" sz="1100" dirty="0">
                <a:solidFill>
                  <a:schemeClr val="accent6"/>
                </a:solidFill>
              </a:rPr>
              <a:t>ToiPlan  ·  iii. Solution &amp; results</a:t>
            </a:r>
            <a:endParaRPr lang="en-US" sz="11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iamthefamous/presentation" TargetMode="Externa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5.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github.com/iamthefamous/presentation" TargetMode="Externa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731520" y="731520"/>
            <a:ext cx="1463040" cy="1188720"/>
          </a:xfrm>
          <a:prstGeom prst="rect">
            <a:avLst/>
          </a:prstGeom>
          <a:noFill/>
          <a:ln/>
        </p:spPr>
        <p:txBody>
          <a:bodyPr wrap="square" lIns="0" tIns="0" rIns="0" bIns="0" rtlCol="0" anchor="ctr"/>
          <a:lstStyle/>
          <a:p>
            <a:pPr algn="l" indent="0" marL="0">
              <a:buNone/>
            </a:pPr>
            <a:r>
              <a:rPr lang="en-US" sz="7200" dirty="0">
                <a:solidFill>
                  <a:srgbClr val="000000"/>
                </a:solidFill>
                <a:latin typeface="Segoe UI Emoji" pitchFamily="34" charset="0"/>
                <a:ea typeface="Segoe UI Emoji" pitchFamily="34" charset="-122"/>
                <a:cs typeface="Segoe UI Emoji" pitchFamily="34" charset="-120"/>
              </a:rPr>
              <a:t>🎉</a:t>
            </a:r>
            <a:endParaRPr lang="en-US" sz="7200" dirty="0"/>
          </a:p>
        </p:txBody>
      </p:sp>
      <p:sp>
        <p:nvSpPr>
          <p:cNvPr id="3" name="Text 0"/>
          <p:cNvSpPr/>
          <p:nvPr>
            <p:ph idx="100" type="title" hasCustomPrompt="1"/>
          </p:nvPr>
        </p:nvSpPr>
        <p:spPr>
          <a:xfrm>
            <a:off x="731520" y="2103120"/>
            <a:ext cx="10698480" cy="1371600"/>
          </a:xfrm>
          <a:prstGeom prst="rect">
            <a:avLst/>
          </a:prstGeom>
          <a:noFill/>
          <a:ln/>
        </p:spPr>
        <p:txBody>
          <a:bodyPr wrap="square" lIns="0" tIns="0" rIns="0" bIns="0" rtlCol="0" anchor="b"/>
          <a:lstStyle/>
          <a:p>
            <a:pPr algn="l" indent="0" marL="0">
              <a:buNone/>
            </a:pPr>
            <a:r>
              <a:rPr lang="en-US" sz="6000" b="1" dirty="0">
                <a:solidFill>
                  <a:schemeClr val="bg1"/>
                </a:solidFill>
              </a:rPr>
              <a:t>ToiPlan</a:t>
            </a:r>
            <a:endParaRPr lang="en-US" sz="6000" dirty="0"/>
          </a:p>
        </p:txBody>
      </p:sp>
      <p:sp>
        <p:nvSpPr>
          <p:cNvPr id="4" name="Text 0"/>
          <p:cNvSpPr/>
          <p:nvPr>
            <p:ph idx="101" type="body" hasCustomPrompt="1"/>
          </p:nvPr>
        </p:nvSpPr>
        <p:spPr>
          <a:xfrm>
            <a:off x="731520" y="3611880"/>
            <a:ext cx="10698480" cy="822960"/>
          </a:xfrm>
          <a:prstGeom prst="rect">
            <a:avLst/>
          </a:prstGeom>
          <a:noFill/>
          <a:ln/>
        </p:spPr>
        <p:txBody>
          <a:bodyPr wrap="square" lIns="0" tIns="0" rIns="0" bIns="0" rtlCol="0" anchor="t"/>
          <a:lstStyle/>
          <a:p>
            <a:pPr indent="0" marL="0">
              <a:buNone/>
            </a:pPr>
            <a:r>
              <a:rPr lang="en-US" sz="2600" dirty="0">
                <a:solidFill>
                  <a:schemeClr val="accent2"/>
                </a:solidFill>
              </a:rPr>
              <a:t>Seating 100 guests without starting a family war</a:t>
            </a:r>
            <a:endParaRPr lang="en-US" sz="2600" dirty="0"/>
          </a:p>
        </p:txBody>
      </p:sp>
      <p:sp>
        <p:nvSpPr>
          <p:cNvPr id="5" name="text-2"/>
          <p:cNvSpPr txBox="1"/>
          <p:nvPr/>
        </p:nvSpPr>
        <p:spPr>
          <a:xfrm>
            <a:off x="731520" y="5029200"/>
            <a:ext cx="10698480" cy="822960"/>
          </a:xfrm>
          <a:prstGeom prst="rect">
            <a:avLst/>
          </a:prstGeom>
          <a:noFill/>
          <a:ln/>
        </p:spPr>
        <p:txBody>
          <a:bodyPr wrap="square" lIns="0" tIns="0" rIns="0" bIns="0" rtlCol="0" anchor="t"/>
          <a:lstStyle/>
          <a:p>
            <a:pPr indent="0" marL="0">
              <a:spcAft>
                <a:spcPts val="600"/>
              </a:spcAft>
              <a:buNone/>
            </a:pPr>
            <a:r>
              <a:rPr lang="en-US" sz="1800" dirty="0">
                <a:solidFill>
                  <a:schemeClr val="bg1"/>
                </a:solidFill>
              </a:rPr>
              <a:t>A Genetic Algorithm for the toi seating problem</a:t>
            </a:r>
            <a:endParaRPr lang="en-US" sz="1800" dirty="0"/>
          </a:p>
          <a:p>
            <a:pPr indent="0" marL="0">
              <a:spcAft>
                <a:spcPts val="600"/>
              </a:spcAft>
              <a:buNone/>
            </a:pPr>
            <a:r>
              <a:rPr lang="en-US" sz="1800" dirty="0">
                <a:solidFill>
                  <a:schemeClr val="bg1"/>
                </a:solidFill>
              </a:rPr>
              <a:t>Asylbek Zhunusov &amp; Emir Sakiev  ·  Optimization with Metaheuristic Algorithms  ·  Friday, 30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Meanwhile, at every toi</a:t>
            </a:r>
            <a:endParaRPr lang="en-US" sz="3600" dirty="0"/>
          </a:p>
        </p:txBody>
      </p:sp>
      <p:sp>
        <p:nvSpPr>
          <p:cNvPr id="3" name="card-3"/>
          <p:cNvSpPr/>
          <p:nvPr/>
        </p:nvSpPr>
        <p:spPr>
          <a:xfrm>
            <a:off x="822960" y="1417320"/>
            <a:ext cx="6949440" cy="4526280"/>
          </a:xfrm>
          <a:prstGeom prst="roundRect">
            <a:avLst>
              <a:gd name="adj" fmla="val 2424"/>
            </a:avLst>
          </a:prstGeom>
          <a:solidFill>
            <a:schemeClr val="bg1"/>
          </a:solidFill>
          <a:ln w="12700">
            <a:solidFill>
              <a:srgbClr val="E5DADD"/>
            </a:solidFill>
            <a:prstDash val="solid"/>
          </a:ln>
          <a:effectLst>
            <a:outerShdw sx="100000" sy="100000" kx="0" ky="0" algn="bl" rotWithShape="0" blurRad="127000" dist="38100" dir="5400000">
              <a:srgbClr val="000000">
                <a:alpha val="18000"/>
              </a:srgbClr>
            </a:outerShdw>
          </a:effectLst>
        </p:spPr>
      </p:sp>
      <p:sp>
        <p:nvSpPr>
          <p:cNvPr id="4" name="emoji-4"/>
          <p:cNvSpPr txBox="1"/>
          <p:nvPr/>
        </p:nvSpPr>
        <p:spPr>
          <a:xfrm>
            <a:off x="1188720" y="1783080"/>
            <a:ext cx="777240" cy="7772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700" dirty="0">
                <a:solidFill>
                  <a:srgbClr val="000000"/>
                </a:solidFill>
                <a:latin typeface="Segoe UI Emoji" pitchFamily="34" charset="0"/>
                <a:ea typeface="Segoe UI Emoji" pitchFamily="34" charset="-122"/>
                <a:cs typeface="Segoe UI Emoji" pitchFamily="34" charset="-120"/>
              </a:rPr>
              <a:t>🎉</a:t>
            </a:r>
            <a:endParaRPr lang="en-US" sz="2700" dirty="0"/>
          </a:p>
        </p:txBody>
      </p:sp>
      <p:sp>
        <p:nvSpPr>
          <p:cNvPr id="5" name="text-5"/>
          <p:cNvSpPr txBox="1"/>
          <p:nvPr/>
        </p:nvSpPr>
        <p:spPr>
          <a:xfrm>
            <a:off x="2148840" y="1783080"/>
            <a:ext cx="5029200" cy="411480"/>
          </a:xfrm>
          <a:prstGeom prst="rect">
            <a:avLst/>
          </a:prstGeom>
          <a:noFill/>
          <a:ln/>
        </p:spPr>
        <p:txBody>
          <a:bodyPr wrap="square" lIns="0" tIns="0" rIns="0" bIns="0" rtlCol="0" anchor="t"/>
          <a:lstStyle/>
          <a:p>
            <a:pPr indent="0" marL="0">
              <a:buNone/>
            </a:pPr>
            <a:r>
              <a:rPr lang="en-US" sz="2000" b="1" dirty="0">
                <a:solidFill>
                  <a:schemeClr val="tx1"/>
                </a:solidFill>
              </a:rPr>
              <a:t>Toi Problems</a:t>
            </a:r>
            <a:endParaRPr lang="en-US" sz="2000" dirty="0"/>
          </a:p>
        </p:txBody>
      </p:sp>
      <p:sp>
        <p:nvSpPr>
          <p:cNvPr id="6" name="text-6"/>
          <p:cNvSpPr txBox="1"/>
          <p:nvPr/>
        </p:nvSpPr>
        <p:spPr>
          <a:xfrm>
            <a:off x="2148840" y="2194560"/>
            <a:ext cx="5029200" cy="365760"/>
          </a:xfrm>
          <a:prstGeom prst="rect">
            <a:avLst/>
          </a:prstGeom>
          <a:noFill/>
          <a:ln/>
        </p:spPr>
        <p:txBody>
          <a:bodyPr wrap="square" lIns="0" tIns="0" rIns="0" bIns="0" rtlCol="0" anchor="t"/>
          <a:lstStyle/>
          <a:p>
            <a:pPr indent="0" marL="0">
              <a:buNone/>
            </a:pPr>
            <a:r>
              <a:rPr lang="en-US" sz="1500" dirty="0">
                <a:solidFill>
                  <a:schemeClr val="accent6"/>
                </a:solidFill>
              </a:rPr>
              <a:t>@toi_problems · 2m</a:t>
            </a:r>
            <a:endParaRPr lang="en-US" sz="1500" dirty="0"/>
          </a:p>
        </p:txBody>
      </p:sp>
      <p:sp>
        <p:nvSpPr>
          <p:cNvPr id="7" name="text-7"/>
          <p:cNvSpPr txBox="1"/>
          <p:nvPr/>
        </p:nvSpPr>
        <p:spPr>
          <a:xfrm>
            <a:off x="1188720" y="2834640"/>
            <a:ext cx="6309360" cy="2834640"/>
          </a:xfrm>
          <a:prstGeom prst="rect">
            <a:avLst/>
          </a:prstGeom>
          <a:noFill/>
          <a:ln/>
        </p:spPr>
        <p:txBody>
          <a:bodyPr wrap="square" lIns="0" tIns="0" rIns="0" bIns="0" rtlCol="0" anchor="t"/>
          <a:lstStyle/>
          <a:p>
            <a:pPr indent="0" marL="0">
              <a:spcAft>
                <a:spcPts val="1200"/>
              </a:spcAft>
              <a:buNone/>
            </a:pPr>
            <a:r>
              <a:rPr lang="en-US" sz="2400" dirty="0">
                <a:solidFill>
                  <a:schemeClr val="tx1"/>
                </a:solidFill>
              </a:rPr>
              <a:t>Nobody:</a:t>
            </a:r>
            <a:endParaRPr lang="en-US" sz="2400" dirty="0"/>
          </a:p>
          <a:p>
            <a:pPr indent="0" marL="0">
              <a:spcAft>
                <a:spcPts val="1200"/>
              </a:spcAft>
              <a:buNone/>
            </a:pPr>
            <a:r>
              <a:rPr lang="en-US" sz="2400" dirty="0">
                <a:solidFill>
                  <a:schemeClr val="tx1"/>
                </a:solidFill>
              </a:rPr>
              <a:t>Absolutely nobody:</a:t>
            </a:r>
            <a:endParaRPr lang="en-US" sz="2400" dirty="0"/>
          </a:p>
          <a:p>
            <a:pPr indent="0" marL="0">
              <a:spcAft>
                <a:spcPts val="1200"/>
              </a:spcAft>
              <a:buNone/>
            </a:pPr>
            <a:r>
              <a:rPr lang="en-US" sz="2400" dirty="0">
                <a:solidFill>
                  <a:schemeClr val="tx1"/>
                </a:solidFill>
              </a:rPr>
              <a:t>Aunt Gulnara at every toi:</a:t>
            </a:r>
            <a:endParaRPr lang="en-US" sz="2400" dirty="0"/>
          </a:p>
          <a:p>
            <a:pPr indent="0" marL="0">
              <a:spcAft>
                <a:spcPts val="1200"/>
              </a:spcAft>
              <a:buNone/>
            </a:pPr>
            <a:r>
              <a:rPr lang="en-US" sz="2600" b="1" dirty="0">
                <a:solidFill>
                  <a:schemeClr val="accent1"/>
                </a:solidFill>
              </a:rPr>
              <a:t>“Why am I sitting next to HER?!” 😤</a:t>
            </a:r>
            <a:endParaRPr lang="en-US" sz="2400" dirty="0"/>
          </a:p>
        </p:txBody>
      </p:sp>
      <p:sp>
        <p:nvSpPr>
          <p:cNvPr id="8" name="text-8"/>
          <p:cNvSpPr txBox="1"/>
          <p:nvPr/>
        </p:nvSpPr>
        <p:spPr>
          <a:xfrm>
            <a:off x="8138160" y="1828800"/>
            <a:ext cx="3566160" cy="1737360"/>
          </a:xfrm>
          <a:prstGeom prst="rect">
            <a:avLst/>
          </a:prstGeom>
          <a:noFill/>
          <a:ln/>
        </p:spPr>
        <p:txBody>
          <a:bodyPr wrap="square" lIns="0" tIns="0" rIns="0" bIns="0" rtlCol="0" anchor="ctr"/>
          <a:lstStyle/>
          <a:p>
            <a:pPr algn="ctr" indent="0" marL="0">
              <a:buNone/>
            </a:pPr>
            <a:r>
              <a:rPr lang="en-US" sz="6000" dirty="0">
                <a:solidFill>
                  <a:srgbClr val="000000"/>
                </a:solidFill>
                <a:latin typeface="Segoe UI Emoji" pitchFamily="34" charset="0"/>
                <a:ea typeface="Segoe UI Emoji" pitchFamily="34" charset="-122"/>
                <a:cs typeface="Segoe UI Emoji" pitchFamily="34" charset="-120"/>
              </a:rPr>
              <a:t>👵⚡👵</a:t>
            </a:r>
            <a:endParaRPr lang="en-US" sz="6000" dirty="0"/>
          </a:p>
        </p:txBody>
      </p:sp>
      <p:sp>
        <p:nvSpPr>
          <p:cNvPr id="9" name="text-9"/>
          <p:cNvSpPr txBox="1"/>
          <p:nvPr/>
        </p:nvSpPr>
        <p:spPr>
          <a:xfrm>
            <a:off x="8138160" y="3840480"/>
            <a:ext cx="3566160" cy="1188720"/>
          </a:xfrm>
          <a:prstGeom prst="rect">
            <a:avLst/>
          </a:prstGeom>
          <a:noFill/>
          <a:ln/>
        </p:spPr>
        <p:txBody>
          <a:bodyPr wrap="square" lIns="0" tIns="0" rIns="0" bIns="0" rtlCol="0" anchor="t"/>
          <a:lstStyle/>
          <a:p>
            <a:pPr algn="ctr" indent="0" marL="0">
              <a:spcAft>
                <a:spcPts val="600"/>
              </a:spcAft>
              <a:buNone/>
            </a:pPr>
            <a:r>
              <a:rPr lang="en-US" sz="2000" b="1" dirty="0">
                <a:solidFill>
                  <a:schemeClr val="tx1"/>
                </a:solidFill>
              </a:rPr>
              <a:t>100 guests · 25 feuds · 1 tör</a:t>
            </a:r>
            <a:endParaRPr lang="en-US" sz="2000" dirty="0"/>
          </a:p>
          <a:p>
            <a:pPr algn="ctr" indent="0" marL="0">
              <a:spcAft>
                <a:spcPts val="600"/>
              </a:spcAft>
              <a:buNone/>
            </a:pPr>
            <a:r>
              <a:rPr lang="en-US" sz="2000" dirty="0">
                <a:solidFill>
                  <a:schemeClr val="tx1"/>
                </a:solidFill>
              </a:rPr>
              <a:t>What could possibly go wrong?</a:t>
            </a:r>
            <a:endParaRPr lang="en-US" sz="20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The problem: who sits where?</a:t>
            </a:r>
            <a:endParaRPr lang="en-US" sz="3600" dirty="0"/>
          </a:p>
        </p:txBody>
      </p:sp>
      <p:sp>
        <p:nvSpPr>
          <p:cNvPr id="3" name="card-10"/>
          <p:cNvSpPr/>
          <p:nvPr/>
        </p:nvSpPr>
        <p:spPr>
          <a:xfrm>
            <a:off x="548640" y="1325880"/>
            <a:ext cx="2066544" cy="1188720"/>
          </a:xfrm>
          <a:prstGeom prst="roundRect">
            <a:avLst>
              <a:gd name="adj" fmla="val 9231"/>
            </a:avLst>
          </a:prstGeom>
          <a:solidFill>
            <a:schemeClr val="bg2"/>
          </a:solidFill>
          <a:ln w="12700">
            <a:solidFill>
              <a:schemeClr val="bg2"/>
            </a:solidFill>
            <a:prstDash val="solid"/>
          </a:ln>
        </p:spPr>
      </p:sp>
      <p:sp>
        <p:nvSpPr>
          <p:cNvPr id="4" name="text-11"/>
          <p:cNvSpPr txBox="1"/>
          <p:nvPr/>
        </p:nvSpPr>
        <p:spPr>
          <a:xfrm>
            <a:off x="731520" y="1389888"/>
            <a:ext cx="1737360" cy="685800"/>
          </a:xfrm>
          <a:prstGeom prst="rect">
            <a:avLst/>
          </a:prstGeom>
          <a:noFill/>
          <a:ln/>
        </p:spPr>
        <p:txBody>
          <a:bodyPr wrap="square" lIns="0" tIns="0" rIns="0" bIns="0" rtlCol="0" anchor="t"/>
          <a:lstStyle/>
          <a:p>
            <a:pPr indent="0" marL="0">
              <a:buNone/>
            </a:pPr>
            <a:r>
              <a:rPr lang="en-US" sz="4000" b="1" dirty="0">
                <a:solidFill>
                  <a:schemeClr val="tx2"/>
                </a:solidFill>
              </a:rPr>
              <a:t>100</a:t>
            </a:r>
            <a:endParaRPr lang="en-US" sz="4000" dirty="0"/>
          </a:p>
        </p:txBody>
      </p:sp>
      <p:sp>
        <p:nvSpPr>
          <p:cNvPr id="5" name="text-12"/>
          <p:cNvSpPr txBox="1"/>
          <p:nvPr/>
        </p:nvSpPr>
        <p:spPr>
          <a:xfrm>
            <a:off x="731520" y="2057400"/>
            <a:ext cx="1737360" cy="365760"/>
          </a:xfrm>
          <a:prstGeom prst="rect">
            <a:avLst/>
          </a:prstGeom>
          <a:noFill/>
          <a:ln/>
        </p:spPr>
        <p:txBody>
          <a:bodyPr wrap="square" lIns="0" tIns="0" rIns="0" bIns="0" rtlCol="0" anchor="t"/>
          <a:lstStyle/>
          <a:p>
            <a:pPr indent="0" marL="0">
              <a:buNone/>
            </a:pPr>
            <a:r>
              <a:rPr lang="en-US" sz="1600" dirty="0">
                <a:solidFill>
                  <a:schemeClr val="tx1"/>
                </a:solidFill>
              </a:rPr>
              <a:t>guests</a:t>
            </a:r>
            <a:endParaRPr lang="en-US" sz="1600" dirty="0"/>
          </a:p>
        </p:txBody>
      </p:sp>
      <p:sp>
        <p:nvSpPr>
          <p:cNvPr id="6" name="card-13"/>
          <p:cNvSpPr/>
          <p:nvPr/>
        </p:nvSpPr>
        <p:spPr>
          <a:xfrm>
            <a:off x="2798064" y="1325880"/>
            <a:ext cx="2066544" cy="1188720"/>
          </a:xfrm>
          <a:prstGeom prst="roundRect">
            <a:avLst>
              <a:gd name="adj" fmla="val 9231"/>
            </a:avLst>
          </a:prstGeom>
          <a:solidFill>
            <a:schemeClr val="bg2"/>
          </a:solidFill>
          <a:ln w="12700">
            <a:solidFill>
              <a:schemeClr val="bg2"/>
            </a:solidFill>
            <a:prstDash val="solid"/>
          </a:ln>
        </p:spPr>
      </p:sp>
      <p:sp>
        <p:nvSpPr>
          <p:cNvPr id="7" name="text-14"/>
          <p:cNvSpPr txBox="1"/>
          <p:nvPr/>
        </p:nvSpPr>
        <p:spPr>
          <a:xfrm>
            <a:off x="2980944" y="1389888"/>
            <a:ext cx="1737360" cy="685800"/>
          </a:xfrm>
          <a:prstGeom prst="rect">
            <a:avLst/>
          </a:prstGeom>
          <a:noFill/>
          <a:ln/>
        </p:spPr>
        <p:txBody>
          <a:bodyPr wrap="square" lIns="0" tIns="0" rIns="0" bIns="0" rtlCol="0" anchor="t"/>
          <a:lstStyle/>
          <a:p>
            <a:pPr indent="0" marL="0">
              <a:buNone/>
            </a:pPr>
            <a:r>
              <a:rPr lang="en-US" sz="4000" b="1" dirty="0">
                <a:solidFill>
                  <a:schemeClr val="tx2"/>
                </a:solidFill>
              </a:rPr>
              <a:t>10×10</a:t>
            </a:r>
            <a:endParaRPr lang="en-US" sz="4000" dirty="0"/>
          </a:p>
        </p:txBody>
      </p:sp>
      <p:sp>
        <p:nvSpPr>
          <p:cNvPr id="8" name="text-15"/>
          <p:cNvSpPr txBox="1"/>
          <p:nvPr/>
        </p:nvSpPr>
        <p:spPr>
          <a:xfrm>
            <a:off x="2980944" y="2057400"/>
            <a:ext cx="1737360" cy="365760"/>
          </a:xfrm>
          <a:prstGeom prst="rect">
            <a:avLst/>
          </a:prstGeom>
          <a:noFill/>
          <a:ln/>
        </p:spPr>
        <p:txBody>
          <a:bodyPr wrap="square" lIns="0" tIns="0" rIns="0" bIns="0" rtlCol="0" anchor="t"/>
          <a:lstStyle/>
          <a:p>
            <a:pPr indent="0" marL="0">
              <a:buNone/>
            </a:pPr>
            <a:r>
              <a:rPr lang="en-US" sz="1600" dirty="0">
                <a:solidFill>
                  <a:schemeClr val="tx1"/>
                </a:solidFill>
              </a:rPr>
              <a:t>tables × seats</a:t>
            </a:r>
            <a:endParaRPr lang="en-US" sz="1600" dirty="0"/>
          </a:p>
        </p:txBody>
      </p:sp>
      <p:sp>
        <p:nvSpPr>
          <p:cNvPr id="9" name="card-16"/>
          <p:cNvSpPr/>
          <p:nvPr/>
        </p:nvSpPr>
        <p:spPr>
          <a:xfrm>
            <a:off x="5047488" y="1325880"/>
            <a:ext cx="2066544" cy="1188720"/>
          </a:xfrm>
          <a:prstGeom prst="roundRect">
            <a:avLst>
              <a:gd name="adj" fmla="val 9231"/>
            </a:avLst>
          </a:prstGeom>
          <a:solidFill>
            <a:schemeClr val="bg2"/>
          </a:solidFill>
          <a:ln w="12700">
            <a:solidFill>
              <a:schemeClr val="bg2"/>
            </a:solidFill>
            <a:prstDash val="solid"/>
          </a:ln>
        </p:spPr>
      </p:sp>
      <p:sp>
        <p:nvSpPr>
          <p:cNvPr id="10" name="text-17"/>
          <p:cNvSpPr txBox="1"/>
          <p:nvPr/>
        </p:nvSpPr>
        <p:spPr>
          <a:xfrm>
            <a:off x="5230368" y="1389888"/>
            <a:ext cx="1737360" cy="685800"/>
          </a:xfrm>
          <a:prstGeom prst="rect">
            <a:avLst/>
          </a:prstGeom>
          <a:noFill/>
          <a:ln/>
        </p:spPr>
        <p:txBody>
          <a:bodyPr wrap="square" lIns="0" tIns="0" rIns="0" bIns="0" rtlCol="0" anchor="t"/>
          <a:lstStyle/>
          <a:p>
            <a:pPr indent="0" marL="0">
              <a:buNone/>
            </a:pPr>
            <a:r>
              <a:rPr lang="en-US" sz="4000" b="1" dirty="0">
                <a:solidFill>
                  <a:schemeClr val="tx2"/>
                </a:solidFill>
              </a:rPr>
              <a:t>19</a:t>
            </a:r>
            <a:endParaRPr lang="en-US" sz="4000" dirty="0"/>
          </a:p>
        </p:txBody>
      </p:sp>
      <p:sp>
        <p:nvSpPr>
          <p:cNvPr id="11" name="text-18"/>
          <p:cNvSpPr txBox="1"/>
          <p:nvPr/>
        </p:nvSpPr>
        <p:spPr>
          <a:xfrm>
            <a:off x="5230368" y="2057400"/>
            <a:ext cx="1737360" cy="365760"/>
          </a:xfrm>
          <a:prstGeom prst="rect">
            <a:avLst/>
          </a:prstGeom>
          <a:noFill/>
          <a:ln/>
        </p:spPr>
        <p:txBody>
          <a:bodyPr wrap="square" lIns="0" tIns="0" rIns="0" bIns="0" rtlCol="0" anchor="t"/>
          <a:lstStyle/>
          <a:p>
            <a:pPr indent="0" marL="0">
              <a:buNone/>
            </a:pPr>
            <a:r>
              <a:rPr lang="en-US" sz="1600" dirty="0">
                <a:solidFill>
                  <a:schemeClr val="tx1"/>
                </a:solidFill>
              </a:rPr>
              <a:t>families</a:t>
            </a:r>
            <a:endParaRPr lang="en-US" sz="1600" dirty="0"/>
          </a:p>
        </p:txBody>
      </p:sp>
      <p:sp>
        <p:nvSpPr>
          <p:cNvPr id="12" name="card-19"/>
          <p:cNvSpPr/>
          <p:nvPr/>
        </p:nvSpPr>
        <p:spPr>
          <a:xfrm>
            <a:off x="7296912" y="1325880"/>
            <a:ext cx="2066544" cy="1188720"/>
          </a:xfrm>
          <a:prstGeom prst="roundRect">
            <a:avLst>
              <a:gd name="adj" fmla="val 9231"/>
            </a:avLst>
          </a:prstGeom>
          <a:solidFill>
            <a:schemeClr val="bg2"/>
          </a:solidFill>
          <a:ln w="12700">
            <a:solidFill>
              <a:schemeClr val="bg2"/>
            </a:solidFill>
            <a:prstDash val="solid"/>
          </a:ln>
        </p:spPr>
      </p:sp>
      <p:sp>
        <p:nvSpPr>
          <p:cNvPr id="13" name="text-20"/>
          <p:cNvSpPr txBox="1"/>
          <p:nvPr/>
        </p:nvSpPr>
        <p:spPr>
          <a:xfrm>
            <a:off x="7479792" y="1389888"/>
            <a:ext cx="1737360" cy="685800"/>
          </a:xfrm>
          <a:prstGeom prst="rect">
            <a:avLst/>
          </a:prstGeom>
          <a:noFill/>
          <a:ln/>
        </p:spPr>
        <p:txBody>
          <a:bodyPr wrap="square" lIns="0" tIns="0" rIns="0" bIns="0" rtlCol="0" anchor="t"/>
          <a:lstStyle/>
          <a:p>
            <a:pPr indent="0" marL="0">
              <a:buNone/>
            </a:pPr>
            <a:r>
              <a:rPr lang="en-US" sz="4000" b="1" dirty="0">
                <a:solidFill>
                  <a:schemeClr val="tx2"/>
                </a:solidFill>
              </a:rPr>
              <a:t>8</a:t>
            </a:r>
            <a:endParaRPr lang="en-US" sz="4000" dirty="0"/>
          </a:p>
        </p:txBody>
      </p:sp>
      <p:sp>
        <p:nvSpPr>
          <p:cNvPr id="14" name="text-21"/>
          <p:cNvSpPr txBox="1"/>
          <p:nvPr/>
        </p:nvSpPr>
        <p:spPr>
          <a:xfrm>
            <a:off x="7479792" y="2057400"/>
            <a:ext cx="1737360" cy="365760"/>
          </a:xfrm>
          <a:prstGeom prst="rect">
            <a:avLst/>
          </a:prstGeom>
          <a:noFill/>
          <a:ln/>
        </p:spPr>
        <p:txBody>
          <a:bodyPr wrap="square" lIns="0" tIns="0" rIns="0" bIns="0" rtlCol="0" anchor="t"/>
          <a:lstStyle/>
          <a:p>
            <a:pPr indent="0" marL="0">
              <a:buNone/>
            </a:pPr>
            <a:r>
              <a:rPr lang="en-US" sz="1600" dirty="0">
                <a:solidFill>
                  <a:schemeClr val="tx1"/>
                </a:solidFill>
              </a:rPr>
              <a:t>elders</a:t>
            </a:r>
            <a:endParaRPr lang="en-US" sz="1600" dirty="0"/>
          </a:p>
        </p:txBody>
      </p:sp>
      <p:sp>
        <p:nvSpPr>
          <p:cNvPr id="15" name="card-22"/>
          <p:cNvSpPr/>
          <p:nvPr/>
        </p:nvSpPr>
        <p:spPr>
          <a:xfrm>
            <a:off x="9546336" y="1325880"/>
            <a:ext cx="2066544" cy="1188720"/>
          </a:xfrm>
          <a:prstGeom prst="roundRect">
            <a:avLst>
              <a:gd name="adj" fmla="val 9231"/>
            </a:avLst>
          </a:prstGeom>
          <a:solidFill>
            <a:schemeClr val="bg2"/>
          </a:solidFill>
          <a:ln w="12700">
            <a:solidFill>
              <a:schemeClr val="bg2"/>
            </a:solidFill>
            <a:prstDash val="solid"/>
          </a:ln>
        </p:spPr>
      </p:sp>
      <p:sp>
        <p:nvSpPr>
          <p:cNvPr id="16" name="text-23"/>
          <p:cNvSpPr txBox="1"/>
          <p:nvPr/>
        </p:nvSpPr>
        <p:spPr>
          <a:xfrm>
            <a:off x="9729216" y="1389888"/>
            <a:ext cx="1737360" cy="685800"/>
          </a:xfrm>
          <a:prstGeom prst="rect">
            <a:avLst/>
          </a:prstGeom>
          <a:noFill/>
          <a:ln/>
        </p:spPr>
        <p:txBody>
          <a:bodyPr wrap="square" lIns="0" tIns="0" rIns="0" bIns="0" rtlCol="0" anchor="t"/>
          <a:lstStyle/>
          <a:p>
            <a:pPr indent="0" marL="0">
              <a:buNone/>
            </a:pPr>
            <a:r>
              <a:rPr lang="en-US" sz="4000" b="1" dirty="0">
                <a:solidFill>
                  <a:schemeClr val="tx2"/>
                </a:solidFill>
              </a:rPr>
              <a:t>25</a:t>
            </a:r>
            <a:endParaRPr lang="en-US" sz="4000" dirty="0"/>
          </a:p>
        </p:txBody>
      </p:sp>
      <p:sp>
        <p:nvSpPr>
          <p:cNvPr id="17" name="text-24"/>
          <p:cNvSpPr txBox="1"/>
          <p:nvPr/>
        </p:nvSpPr>
        <p:spPr>
          <a:xfrm>
            <a:off x="9729216" y="2057400"/>
            <a:ext cx="1737360" cy="365760"/>
          </a:xfrm>
          <a:prstGeom prst="rect">
            <a:avLst/>
          </a:prstGeom>
          <a:noFill/>
          <a:ln/>
        </p:spPr>
        <p:txBody>
          <a:bodyPr wrap="square" lIns="0" tIns="0" rIns="0" bIns="0" rtlCol="0" anchor="t"/>
          <a:lstStyle/>
          <a:p>
            <a:pPr indent="0" marL="0">
              <a:buNone/>
            </a:pPr>
            <a:r>
              <a:rPr lang="en-US" sz="1600" dirty="0">
                <a:solidFill>
                  <a:schemeClr val="tx1"/>
                </a:solidFill>
              </a:rPr>
              <a:t>feuds 😬</a:t>
            </a:r>
            <a:endParaRPr lang="en-US" sz="1600" dirty="0"/>
          </a:p>
        </p:txBody>
      </p:sp>
      <p:sp>
        <p:nvSpPr>
          <p:cNvPr id="18" name="card-25"/>
          <p:cNvSpPr/>
          <p:nvPr/>
        </p:nvSpPr>
        <p:spPr>
          <a:xfrm>
            <a:off x="548640" y="2788920"/>
            <a:ext cx="2628900" cy="3291840"/>
          </a:xfrm>
          <a:prstGeom prst="roundRect">
            <a:avLst>
              <a:gd name="adj" fmla="val 4174"/>
            </a:avLst>
          </a:prstGeom>
          <a:solidFill>
            <a:schemeClr val="bg2"/>
          </a:solidFill>
          <a:ln w="12700">
            <a:solidFill>
              <a:schemeClr val="bg2"/>
            </a:solidFill>
            <a:prstDash val="solid"/>
          </a:ln>
        </p:spPr>
      </p:sp>
      <p:sp>
        <p:nvSpPr>
          <p:cNvPr id="19" name="emoji-26"/>
          <p:cNvSpPr txBox="1"/>
          <p:nvPr/>
        </p:nvSpPr>
        <p:spPr>
          <a:xfrm>
            <a:off x="777240" y="3063240"/>
            <a:ext cx="822960" cy="8229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900" dirty="0">
                <a:solidFill>
                  <a:srgbClr val="000000"/>
                </a:solidFill>
                <a:latin typeface="Segoe UI Emoji" pitchFamily="34" charset="0"/>
                <a:ea typeface="Segoe UI Emoji" pitchFamily="34" charset="-122"/>
                <a:cs typeface="Segoe UI Emoji" pitchFamily="34" charset="-120"/>
              </a:rPr>
              <a:t>👪</a:t>
            </a:r>
            <a:endParaRPr lang="en-US" sz="2900" dirty="0"/>
          </a:p>
        </p:txBody>
      </p:sp>
      <p:sp>
        <p:nvSpPr>
          <p:cNvPr id="20" name="text-27"/>
          <p:cNvSpPr txBox="1"/>
          <p:nvPr/>
        </p:nvSpPr>
        <p:spPr>
          <a:xfrm>
            <a:off x="777240" y="4023360"/>
            <a:ext cx="2194560" cy="411480"/>
          </a:xfrm>
          <a:prstGeom prst="rect">
            <a:avLst/>
          </a:prstGeom>
          <a:noFill/>
          <a:ln/>
        </p:spPr>
        <p:txBody>
          <a:bodyPr wrap="square" lIns="0" tIns="0" rIns="0" bIns="0" rtlCol="0" anchor="t"/>
          <a:lstStyle/>
          <a:p>
            <a:pPr indent="0" marL="0">
              <a:buNone/>
            </a:pPr>
            <a:r>
              <a:rPr lang="en-US" sz="2000" b="1" dirty="0">
                <a:solidFill>
                  <a:schemeClr val="tx1"/>
                </a:solidFill>
              </a:rPr>
              <a:t>Relatives together</a:t>
            </a:r>
            <a:endParaRPr lang="en-US" sz="2000" dirty="0"/>
          </a:p>
        </p:txBody>
      </p:sp>
      <p:sp>
        <p:nvSpPr>
          <p:cNvPr id="21" name="text-28"/>
          <p:cNvSpPr txBox="1"/>
          <p:nvPr/>
        </p:nvSpPr>
        <p:spPr>
          <a:xfrm>
            <a:off x="777240" y="4480560"/>
            <a:ext cx="2194560" cy="457200"/>
          </a:xfrm>
          <a:prstGeom prst="rect">
            <a:avLst/>
          </a:prstGeom>
          <a:noFill/>
          <a:ln/>
        </p:spPr>
        <p:txBody>
          <a:bodyPr wrap="square" lIns="0" tIns="0" rIns="0" bIns="0" rtlCol="0" anchor="t"/>
          <a:lstStyle/>
          <a:p>
            <a:pPr indent="0" marL="0">
              <a:buNone/>
            </a:pPr>
            <a:r>
              <a:rPr lang="en-US" sz="2400" b="1" dirty="0">
                <a:solidFill>
                  <a:schemeClr val="accent3"/>
                </a:solidFill>
              </a:rPr>
              <a:t>+10 per pair</a:t>
            </a:r>
            <a:endParaRPr lang="en-US" sz="2400" dirty="0"/>
          </a:p>
        </p:txBody>
      </p:sp>
      <p:sp>
        <p:nvSpPr>
          <p:cNvPr id="22" name="text-29"/>
          <p:cNvSpPr txBox="1"/>
          <p:nvPr/>
        </p:nvSpPr>
        <p:spPr>
          <a:xfrm>
            <a:off x="777240" y="5029200"/>
            <a:ext cx="2194560" cy="914400"/>
          </a:xfrm>
          <a:prstGeom prst="rect">
            <a:avLst/>
          </a:prstGeom>
          <a:noFill/>
          <a:ln/>
        </p:spPr>
        <p:txBody>
          <a:bodyPr wrap="square" lIns="0" tIns="0" rIns="0" bIns="0" rtlCol="0" anchor="t"/>
          <a:lstStyle/>
          <a:p>
            <a:pPr indent="0" marL="0">
              <a:buNone/>
            </a:pPr>
            <a:r>
              <a:rPr lang="en-US" sz="1500" dirty="0">
                <a:solidFill>
                  <a:schemeClr val="tx1"/>
                </a:solidFill>
              </a:rPr>
              <a:t>Families want to sit together and catch up.</a:t>
            </a:r>
            <a:endParaRPr lang="en-US" sz="1500" dirty="0"/>
          </a:p>
        </p:txBody>
      </p:sp>
      <p:sp>
        <p:nvSpPr>
          <p:cNvPr id="23" name="card-30"/>
          <p:cNvSpPr/>
          <p:nvPr/>
        </p:nvSpPr>
        <p:spPr>
          <a:xfrm>
            <a:off x="3360420" y="2788920"/>
            <a:ext cx="2628900" cy="3291840"/>
          </a:xfrm>
          <a:prstGeom prst="roundRect">
            <a:avLst>
              <a:gd name="adj" fmla="val 4174"/>
            </a:avLst>
          </a:prstGeom>
          <a:solidFill>
            <a:schemeClr val="bg2"/>
          </a:solidFill>
          <a:ln w="12700">
            <a:solidFill>
              <a:schemeClr val="bg2"/>
            </a:solidFill>
            <a:prstDash val="solid"/>
          </a:ln>
        </p:spPr>
      </p:sp>
      <p:sp>
        <p:nvSpPr>
          <p:cNvPr id="24" name="emoji-31"/>
          <p:cNvSpPr txBox="1"/>
          <p:nvPr/>
        </p:nvSpPr>
        <p:spPr>
          <a:xfrm>
            <a:off x="3589020" y="3063240"/>
            <a:ext cx="822960" cy="8229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900" dirty="0">
                <a:solidFill>
                  <a:srgbClr val="000000"/>
                </a:solidFill>
                <a:latin typeface="Segoe UI Emoji" pitchFamily="34" charset="0"/>
                <a:ea typeface="Segoe UI Emoji" pitchFamily="34" charset="-122"/>
                <a:cs typeface="Segoe UI Emoji" pitchFamily="34" charset="-120"/>
              </a:rPr>
              <a:t>🤝</a:t>
            </a:r>
            <a:endParaRPr lang="en-US" sz="2900" dirty="0"/>
          </a:p>
        </p:txBody>
      </p:sp>
      <p:sp>
        <p:nvSpPr>
          <p:cNvPr id="25" name="text-32"/>
          <p:cNvSpPr txBox="1"/>
          <p:nvPr/>
        </p:nvSpPr>
        <p:spPr>
          <a:xfrm>
            <a:off x="3589020" y="4023360"/>
            <a:ext cx="2194560" cy="411480"/>
          </a:xfrm>
          <a:prstGeom prst="rect">
            <a:avLst/>
          </a:prstGeom>
          <a:noFill/>
          <a:ln/>
        </p:spPr>
        <p:txBody>
          <a:bodyPr wrap="square" lIns="0" tIns="0" rIns="0" bIns="0" rtlCol="0" anchor="t"/>
          <a:lstStyle/>
          <a:p>
            <a:pPr indent="0" marL="0">
              <a:buNone/>
            </a:pPr>
            <a:r>
              <a:rPr lang="en-US" sz="2000" b="1" dirty="0">
                <a:solidFill>
                  <a:schemeClr val="tx1"/>
                </a:solidFill>
              </a:rPr>
              <a:t>Friends together</a:t>
            </a:r>
            <a:endParaRPr lang="en-US" sz="2000" dirty="0"/>
          </a:p>
        </p:txBody>
      </p:sp>
      <p:sp>
        <p:nvSpPr>
          <p:cNvPr id="26" name="text-33"/>
          <p:cNvSpPr txBox="1"/>
          <p:nvPr/>
        </p:nvSpPr>
        <p:spPr>
          <a:xfrm>
            <a:off x="3589020" y="4480560"/>
            <a:ext cx="2194560" cy="457200"/>
          </a:xfrm>
          <a:prstGeom prst="rect">
            <a:avLst/>
          </a:prstGeom>
          <a:noFill/>
          <a:ln/>
        </p:spPr>
        <p:txBody>
          <a:bodyPr wrap="square" lIns="0" tIns="0" rIns="0" bIns="0" rtlCol="0" anchor="t"/>
          <a:lstStyle/>
          <a:p>
            <a:pPr indent="0" marL="0">
              <a:buNone/>
            </a:pPr>
            <a:r>
              <a:rPr lang="en-US" sz="2400" b="1" dirty="0">
                <a:solidFill>
                  <a:schemeClr val="accent3"/>
                </a:solidFill>
              </a:rPr>
              <a:t>+5 per pair</a:t>
            </a:r>
            <a:endParaRPr lang="en-US" sz="2400" dirty="0"/>
          </a:p>
        </p:txBody>
      </p:sp>
      <p:sp>
        <p:nvSpPr>
          <p:cNvPr id="27" name="text-34"/>
          <p:cNvSpPr txBox="1"/>
          <p:nvPr/>
        </p:nvSpPr>
        <p:spPr>
          <a:xfrm>
            <a:off x="3589020" y="5029200"/>
            <a:ext cx="2194560" cy="914400"/>
          </a:xfrm>
          <a:prstGeom prst="rect">
            <a:avLst/>
          </a:prstGeom>
          <a:noFill/>
          <a:ln/>
        </p:spPr>
        <p:txBody>
          <a:bodyPr wrap="square" lIns="0" tIns="0" rIns="0" bIns="0" rtlCol="0" anchor="t"/>
          <a:lstStyle/>
          <a:p>
            <a:pPr indent="0" marL="0">
              <a:buNone/>
            </a:pPr>
            <a:r>
              <a:rPr lang="en-US" sz="1500" dirty="0">
                <a:solidFill>
                  <a:schemeClr val="tx1"/>
                </a:solidFill>
              </a:rPr>
              <a:t>Classmates, colleagues and neighbours.</a:t>
            </a:r>
            <a:endParaRPr lang="en-US" sz="1500" dirty="0"/>
          </a:p>
        </p:txBody>
      </p:sp>
      <p:sp>
        <p:nvSpPr>
          <p:cNvPr id="28" name="card-35"/>
          <p:cNvSpPr/>
          <p:nvPr/>
        </p:nvSpPr>
        <p:spPr>
          <a:xfrm>
            <a:off x="6172200" y="2788920"/>
            <a:ext cx="2628900" cy="3291840"/>
          </a:xfrm>
          <a:prstGeom prst="roundRect">
            <a:avLst>
              <a:gd name="adj" fmla="val 4174"/>
            </a:avLst>
          </a:prstGeom>
          <a:solidFill>
            <a:schemeClr val="bg2"/>
          </a:solidFill>
          <a:ln w="12700">
            <a:solidFill>
              <a:schemeClr val="bg2"/>
            </a:solidFill>
            <a:prstDash val="solid"/>
          </a:ln>
        </p:spPr>
      </p:sp>
      <p:sp>
        <p:nvSpPr>
          <p:cNvPr id="29" name="emoji-36"/>
          <p:cNvSpPr txBox="1"/>
          <p:nvPr/>
        </p:nvSpPr>
        <p:spPr>
          <a:xfrm>
            <a:off x="6400800" y="3063240"/>
            <a:ext cx="822960" cy="8229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900" dirty="0">
                <a:solidFill>
                  <a:srgbClr val="000000"/>
                </a:solidFill>
                <a:latin typeface="Segoe UI Emoji" pitchFamily="34" charset="0"/>
                <a:ea typeface="Segoe UI Emoji" pitchFamily="34" charset="-122"/>
                <a:cs typeface="Segoe UI Emoji" pitchFamily="34" charset="-120"/>
              </a:rPr>
              <a:t>⚔️</a:t>
            </a:r>
            <a:endParaRPr lang="en-US" sz="2900" dirty="0"/>
          </a:p>
        </p:txBody>
      </p:sp>
      <p:sp>
        <p:nvSpPr>
          <p:cNvPr id="30" name="text-37"/>
          <p:cNvSpPr txBox="1"/>
          <p:nvPr/>
        </p:nvSpPr>
        <p:spPr>
          <a:xfrm>
            <a:off x="6400800" y="4023360"/>
            <a:ext cx="2194560" cy="411480"/>
          </a:xfrm>
          <a:prstGeom prst="rect">
            <a:avLst/>
          </a:prstGeom>
          <a:noFill/>
          <a:ln/>
        </p:spPr>
        <p:txBody>
          <a:bodyPr wrap="square" lIns="0" tIns="0" rIns="0" bIns="0" rtlCol="0" anchor="t"/>
          <a:lstStyle/>
          <a:p>
            <a:pPr indent="0" marL="0">
              <a:buNone/>
            </a:pPr>
            <a:r>
              <a:rPr lang="en-US" sz="2000" b="1" dirty="0">
                <a:solidFill>
                  <a:schemeClr val="tx1"/>
                </a:solidFill>
              </a:rPr>
              <a:t>Feuds apart</a:t>
            </a:r>
            <a:endParaRPr lang="en-US" sz="2000" dirty="0"/>
          </a:p>
        </p:txBody>
      </p:sp>
      <p:sp>
        <p:nvSpPr>
          <p:cNvPr id="31" name="text-38"/>
          <p:cNvSpPr txBox="1"/>
          <p:nvPr/>
        </p:nvSpPr>
        <p:spPr>
          <a:xfrm>
            <a:off x="6400800" y="4480560"/>
            <a:ext cx="2194560" cy="457200"/>
          </a:xfrm>
          <a:prstGeom prst="rect">
            <a:avLst/>
          </a:prstGeom>
          <a:noFill/>
          <a:ln/>
        </p:spPr>
        <p:txBody>
          <a:bodyPr wrap="square" lIns="0" tIns="0" rIns="0" bIns="0" rtlCol="0" anchor="t"/>
          <a:lstStyle/>
          <a:p>
            <a:pPr indent="0" marL="0">
              <a:buNone/>
            </a:pPr>
            <a:r>
              <a:rPr lang="en-US" sz="2400" b="1" dirty="0">
                <a:solidFill>
                  <a:schemeClr val="accent1"/>
                </a:solidFill>
              </a:rPr>
              <a:t>−100 per pair</a:t>
            </a:r>
            <a:endParaRPr lang="en-US" sz="2400" dirty="0"/>
          </a:p>
        </p:txBody>
      </p:sp>
      <p:sp>
        <p:nvSpPr>
          <p:cNvPr id="32" name="text-39"/>
          <p:cNvSpPr txBox="1"/>
          <p:nvPr/>
        </p:nvSpPr>
        <p:spPr>
          <a:xfrm>
            <a:off x="6400800" y="5029200"/>
            <a:ext cx="2194560" cy="914400"/>
          </a:xfrm>
          <a:prstGeom prst="rect">
            <a:avLst/>
          </a:prstGeom>
          <a:noFill/>
          <a:ln/>
        </p:spPr>
        <p:txBody>
          <a:bodyPr wrap="square" lIns="0" tIns="0" rIns="0" bIns="0" rtlCol="0" anchor="t"/>
          <a:lstStyle/>
          <a:p>
            <a:pPr indent="0" marL="0">
              <a:buNone/>
            </a:pPr>
            <a:r>
              <a:rPr lang="en-US" sz="1500" dirty="0">
                <a:solidFill>
                  <a:schemeClr val="tx1"/>
                </a:solidFill>
              </a:rPr>
              <a:t>One argument ruins the whole table.</a:t>
            </a:r>
            <a:endParaRPr lang="en-US" sz="1500" dirty="0"/>
          </a:p>
        </p:txBody>
      </p:sp>
      <p:sp>
        <p:nvSpPr>
          <p:cNvPr id="33" name="card-40"/>
          <p:cNvSpPr/>
          <p:nvPr/>
        </p:nvSpPr>
        <p:spPr>
          <a:xfrm>
            <a:off x="8983980" y="2788920"/>
            <a:ext cx="2628900" cy="3291840"/>
          </a:xfrm>
          <a:prstGeom prst="roundRect">
            <a:avLst>
              <a:gd name="adj" fmla="val 4174"/>
            </a:avLst>
          </a:prstGeom>
          <a:solidFill>
            <a:schemeClr val="bg2"/>
          </a:solidFill>
          <a:ln w="12700">
            <a:solidFill>
              <a:schemeClr val="bg2"/>
            </a:solidFill>
            <a:prstDash val="solid"/>
          </a:ln>
        </p:spPr>
      </p:sp>
      <p:sp>
        <p:nvSpPr>
          <p:cNvPr id="34" name="emoji-41"/>
          <p:cNvSpPr txBox="1"/>
          <p:nvPr/>
        </p:nvSpPr>
        <p:spPr>
          <a:xfrm>
            <a:off x="9212580" y="3063240"/>
            <a:ext cx="822960" cy="8229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900" dirty="0">
                <a:solidFill>
                  <a:srgbClr val="000000"/>
                </a:solidFill>
                <a:latin typeface="Segoe UI Emoji" pitchFamily="34" charset="0"/>
                <a:ea typeface="Segoe UI Emoji" pitchFamily="34" charset="-122"/>
                <a:cs typeface="Segoe UI Emoji" pitchFamily="34" charset="-120"/>
              </a:rPr>
              <a:t>👴</a:t>
            </a:r>
            <a:endParaRPr lang="en-US" sz="2900" dirty="0"/>
          </a:p>
        </p:txBody>
      </p:sp>
      <p:sp>
        <p:nvSpPr>
          <p:cNvPr id="35" name="text-42"/>
          <p:cNvSpPr txBox="1"/>
          <p:nvPr/>
        </p:nvSpPr>
        <p:spPr>
          <a:xfrm>
            <a:off x="9212580" y="4023360"/>
            <a:ext cx="2194560" cy="411480"/>
          </a:xfrm>
          <a:prstGeom prst="rect">
            <a:avLst/>
          </a:prstGeom>
          <a:noFill/>
          <a:ln/>
        </p:spPr>
        <p:txBody>
          <a:bodyPr wrap="square" lIns="0" tIns="0" rIns="0" bIns="0" rtlCol="0" anchor="t"/>
          <a:lstStyle/>
          <a:p>
            <a:pPr indent="0" marL="0">
              <a:buNone/>
            </a:pPr>
            <a:r>
              <a:rPr lang="en-US" sz="2000" b="1" dirty="0">
                <a:solidFill>
                  <a:schemeClr val="tx1"/>
                </a:solidFill>
              </a:rPr>
              <a:t>Elders at the tör</a:t>
            </a:r>
            <a:endParaRPr lang="en-US" sz="2000" dirty="0"/>
          </a:p>
        </p:txBody>
      </p:sp>
      <p:sp>
        <p:nvSpPr>
          <p:cNvPr id="36" name="text-43"/>
          <p:cNvSpPr txBox="1"/>
          <p:nvPr/>
        </p:nvSpPr>
        <p:spPr>
          <a:xfrm>
            <a:off x="9212580" y="4480560"/>
            <a:ext cx="2194560" cy="457200"/>
          </a:xfrm>
          <a:prstGeom prst="rect">
            <a:avLst/>
          </a:prstGeom>
          <a:noFill/>
          <a:ln/>
        </p:spPr>
        <p:txBody>
          <a:bodyPr wrap="square" lIns="0" tIns="0" rIns="0" bIns="0" rtlCol="0" anchor="t"/>
          <a:lstStyle/>
          <a:p>
            <a:pPr indent="0" marL="0">
              <a:buNone/>
            </a:pPr>
            <a:r>
              <a:rPr lang="en-US" sz="2400" b="1" dirty="0">
                <a:solidFill>
                  <a:schemeClr val="accent3"/>
                </a:solidFill>
              </a:rPr>
              <a:t>+100 per elder</a:t>
            </a:r>
            <a:endParaRPr lang="en-US" sz="2400" dirty="0"/>
          </a:p>
        </p:txBody>
      </p:sp>
      <p:sp>
        <p:nvSpPr>
          <p:cNvPr id="37" name="text-44"/>
          <p:cNvSpPr txBox="1"/>
          <p:nvPr/>
        </p:nvSpPr>
        <p:spPr>
          <a:xfrm>
            <a:off x="9212580" y="5029200"/>
            <a:ext cx="2194560" cy="914400"/>
          </a:xfrm>
          <a:prstGeom prst="rect">
            <a:avLst/>
          </a:prstGeom>
          <a:noFill/>
          <a:ln/>
        </p:spPr>
        <p:txBody>
          <a:bodyPr wrap="square" lIns="0" tIns="0" rIns="0" bIns="0" rtlCol="0" anchor="t"/>
          <a:lstStyle/>
          <a:p>
            <a:pPr indent="0" marL="0">
              <a:buNone/>
            </a:pPr>
            <a:r>
              <a:rPr lang="en-US" sz="1500" dirty="0">
                <a:solidFill>
                  <a:schemeClr val="tx1"/>
                </a:solidFill>
              </a:rPr>
              <a:t>The tör is the place of honour, far from the door.</a:t>
            </a:r>
            <a:endParaRPr lang="en-US" sz="15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Why not just try every seating?</a:t>
            </a:r>
            <a:endParaRPr lang="en-US" sz="3600" dirty="0"/>
          </a:p>
        </p:txBody>
      </p:sp>
      <p:sp>
        <p:nvSpPr>
          <p:cNvPr id="3" name="text-45"/>
          <p:cNvSpPr txBox="1"/>
          <p:nvPr/>
        </p:nvSpPr>
        <p:spPr>
          <a:xfrm>
            <a:off x="548640" y="1280160"/>
            <a:ext cx="5760720" cy="1737360"/>
          </a:xfrm>
          <a:prstGeom prst="rect">
            <a:avLst/>
          </a:prstGeom>
          <a:noFill/>
          <a:ln/>
        </p:spPr>
        <p:txBody>
          <a:bodyPr wrap="square" lIns="0" tIns="0" rIns="0" bIns="0" rtlCol="0" anchor="ctr"/>
          <a:lstStyle/>
          <a:p>
            <a:pPr indent="0" marL="0">
              <a:buNone/>
            </a:pPr>
            <a:r>
              <a:rPr lang="en-US" sz="11000" b="1" dirty="0">
                <a:solidFill>
                  <a:schemeClr val="tx2"/>
                </a:solidFill>
              </a:rPr>
              <a:t>10</a:t>
            </a:r>
            <a:pPr indent="0" marL="0">
              <a:buNone/>
            </a:pPr>
            <a:r>
              <a:rPr lang="en-US" sz="11000" b="1" baseline="30000" dirty="0">
                <a:solidFill>
                  <a:schemeClr val="tx2"/>
                </a:solidFill>
              </a:rPr>
              <a:t>92</a:t>
            </a:r>
            <a:endParaRPr lang="en-US" sz="11000" dirty="0"/>
          </a:p>
        </p:txBody>
      </p:sp>
      <p:sp>
        <p:nvSpPr>
          <p:cNvPr id="4" name="text-46"/>
          <p:cNvSpPr txBox="1"/>
          <p:nvPr/>
        </p:nvSpPr>
        <p:spPr>
          <a:xfrm>
            <a:off x="548640" y="3063240"/>
            <a:ext cx="5760720" cy="457200"/>
          </a:xfrm>
          <a:prstGeom prst="rect">
            <a:avLst/>
          </a:prstGeom>
          <a:noFill/>
          <a:ln/>
        </p:spPr>
        <p:txBody>
          <a:bodyPr wrap="square" lIns="0" tIns="0" rIns="0" bIns="0" rtlCol="0" anchor="t"/>
          <a:lstStyle/>
          <a:p>
            <a:pPr indent="0" marL="0">
              <a:buNone/>
            </a:pPr>
            <a:r>
              <a:rPr lang="en-US" sz="2000" dirty="0">
                <a:solidFill>
                  <a:schemeClr val="tx1"/>
                </a:solidFill>
              </a:rPr>
              <a:t>possible seatings  =  100! / (10!)</a:t>
            </a:r>
            <a:pPr indent="0" marL="0">
              <a:buNone/>
            </a:pPr>
            <a:r>
              <a:rPr lang="en-US" sz="2000" baseline="30000" dirty="0">
                <a:solidFill>
                  <a:schemeClr val="tx1"/>
                </a:solidFill>
              </a:rPr>
              <a:t>10</a:t>
            </a:r>
            <a:endParaRPr lang="en-US" sz="2000" dirty="0"/>
          </a:p>
        </p:txBody>
      </p:sp>
      <p:sp>
        <p:nvSpPr>
          <p:cNvPr id="5" name="card-47"/>
          <p:cNvSpPr/>
          <p:nvPr/>
        </p:nvSpPr>
        <p:spPr>
          <a:xfrm>
            <a:off x="548640" y="3703320"/>
            <a:ext cx="5760720" cy="914400"/>
          </a:xfrm>
          <a:prstGeom prst="roundRect">
            <a:avLst>
              <a:gd name="adj" fmla="val 12000"/>
            </a:avLst>
          </a:prstGeom>
          <a:solidFill>
            <a:schemeClr val="bg2"/>
          </a:solidFill>
          <a:ln w="12700">
            <a:solidFill>
              <a:schemeClr val="bg2"/>
            </a:solidFill>
            <a:prstDash val="solid"/>
          </a:ln>
        </p:spPr>
      </p:sp>
      <p:sp>
        <p:nvSpPr>
          <p:cNvPr id="6" name="text-48"/>
          <p:cNvSpPr txBox="1"/>
          <p:nvPr/>
        </p:nvSpPr>
        <p:spPr>
          <a:xfrm>
            <a:off x="731520" y="3794760"/>
            <a:ext cx="731520" cy="731520"/>
          </a:xfrm>
          <a:prstGeom prst="rect">
            <a:avLst/>
          </a:prstGeom>
          <a:noFill/>
          <a:ln/>
        </p:spPr>
        <p:txBody>
          <a:bodyPr wrap="square" lIns="0" tIns="0" rIns="0" bIns="0" rtlCol="0" anchor="ctr"/>
          <a:lstStyle/>
          <a:p>
            <a:pPr algn="ctr" indent="0" marL="0">
              <a:buNone/>
            </a:pPr>
            <a:r>
              <a:rPr lang="en-US" sz="3400" dirty="0">
                <a:solidFill>
                  <a:srgbClr val="000000"/>
                </a:solidFill>
                <a:latin typeface="Segoe UI Emoji" pitchFamily="34" charset="0"/>
                <a:ea typeface="Segoe UI Emoji" pitchFamily="34" charset="-122"/>
                <a:cs typeface="Segoe UI Emoji" pitchFamily="34" charset="-120"/>
              </a:rPr>
              <a:t>🌌</a:t>
            </a:r>
            <a:endParaRPr lang="en-US" sz="3400" dirty="0"/>
          </a:p>
        </p:txBody>
      </p:sp>
      <p:sp>
        <p:nvSpPr>
          <p:cNvPr id="7" name="text-49"/>
          <p:cNvSpPr txBox="1"/>
          <p:nvPr/>
        </p:nvSpPr>
        <p:spPr>
          <a:xfrm>
            <a:off x="1600200" y="3703320"/>
            <a:ext cx="4572000" cy="914400"/>
          </a:xfrm>
          <a:prstGeom prst="rect">
            <a:avLst/>
          </a:prstGeom>
          <a:noFill/>
          <a:ln/>
        </p:spPr>
        <p:txBody>
          <a:bodyPr wrap="square" lIns="0" tIns="0" rIns="0" bIns="0" rtlCol="0" anchor="ctr"/>
          <a:lstStyle/>
          <a:p>
            <a:pPr indent="0" marL="0">
              <a:buNone/>
            </a:pPr>
            <a:r>
              <a:rPr lang="en-US" sz="1900" dirty="0">
                <a:solidFill>
                  <a:schemeClr val="tx1"/>
                </a:solidFill>
              </a:rPr>
              <a:t>Atoms in the observable universe: ~10</a:t>
            </a:r>
            <a:pPr indent="0" marL="0">
              <a:buNone/>
            </a:pPr>
            <a:r>
              <a:rPr lang="en-US" sz="1900" baseline="30000" dirty="0">
                <a:solidFill>
                  <a:schemeClr val="tx1"/>
                </a:solidFill>
              </a:rPr>
              <a:t>80</a:t>
            </a:r>
            <a:endParaRPr lang="en-US" sz="1900" dirty="0"/>
          </a:p>
        </p:txBody>
      </p:sp>
      <p:sp>
        <p:nvSpPr>
          <p:cNvPr id="8" name="card-50"/>
          <p:cNvSpPr/>
          <p:nvPr/>
        </p:nvSpPr>
        <p:spPr>
          <a:xfrm>
            <a:off x="548640" y="4846320"/>
            <a:ext cx="5760720" cy="1234440"/>
          </a:xfrm>
          <a:prstGeom prst="roundRect">
            <a:avLst>
              <a:gd name="adj" fmla="val 8889"/>
            </a:avLst>
          </a:prstGeom>
          <a:solidFill>
            <a:schemeClr val="accent1"/>
          </a:solidFill>
          <a:ln w="12700">
            <a:solidFill>
              <a:schemeClr val="accent1"/>
            </a:solidFill>
            <a:prstDash val="solid"/>
          </a:ln>
        </p:spPr>
      </p:sp>
      <p:sp>
        <p:nvSpPr>
          <p:cNvPr id="9" name="text-51"/>
          <p:cNvSpPr txBox="1"/>
          <p:nvPr/>
        </p:nvSpPr>
        <p:spPr>
          <a:xfrm>
            <a:off x="777240" y="4846320"/>
            <a:ext cx="5303520" cy="1234440"/>
          </a:xfrm>
          <a:prstGeom prst="rect">
            <a:avLst/>
          </a:prstGeom>
          <a:noFill/>
          <a:ln/>
        </p:spPr>
        <p:txBody>
          <a:bodyPr wrap="square" lIns="0" tIns="0" rIns="0" bIns="0" rtlCol="0" anchor="ctr"/>
          <a:lstStyle/>
          <a:p>
            <a:pPr indent="0" marL="0">
              <a:spcAft>
                <a:spcPts val="400"/>
              </a:spcAft>
              <a:buNone/>
            </a:pPr>
            <a:r>
              <a:rPr lang="en-US" sz="1700" b="1" dirty="0">
                <a:solidFill>
                  <a:schemeClr val="bg1"/>
                </a:solidFill>
              </a:rPr>
              <a:t>Seating = balanced graph partitioning → NP-hard.</a:t>
            </a:r>
            <a:endParaRPr lang="en-US" sz="1700" dirty="0"/>
          </a:p>
          <a:p>
            <a:pPr indent="0" marL="0">
              <a:spcAft>
                <a:spcPts val="400"/>
              </a:spcAft>
              <a:buNone/>
            </a:pPr>
            <a:r>
              <a:rPr lang="en-US" sz="1700" dirty="0">
                <a:solidFill>
                  <a:schemeClr val="bg1"/>
                </a:solidFill>
              </a:rPr>
              <a:t>No fast exact algorithm is known, so we use a metaheuristic.</a:t>
            </a:r>
            <a:endParaRPr lang="en-US" sz="1700" dirty="0"/>
          </a:p>
        </p:txBody>
      </p:sp>
      <p:sp>
        <p:nvSpPr>
          <p:cNvPr id="10" name="card-52"/>
          <p:cNvSpPr/>
          <p:nvPr/>
        </p:nvSpPr>
        <p:spPr>
          <a:xfrm>
            <a:off x="6675120" y="1325880"/>
            <a:ext cx="4937760" cy="4754880"/>
          </a:xfrm>
          <a:prstGeom prst="roundRect">
            <a:avLst>
              <a:gd name="adj" fmla="val 2308"/>
            </a:avLst>
          </a:prstGeom>
          <a:solidFill>
            <a:schemeClr val="bg1"/>
          </a:solidFill>
          <a:ln w="12700">
            <a:solidFill>
              <a:srgbClr val="E5DADD"/>
            </a:solidFill>
            <a:prstDash val="solid"/>
          </a:ln>
          <a:effectLst>
            <a:outerShdw sx="100000" sy="100000" kx="0" ky="0" algn="bl" rotWithShape="0" blurRad="127000" dist="38100" dir="5400000">
              <a:srgbClr val="000000">
                <a:alpha val="18000"/>
              </a:srgbClr>
            </a:outerShdw>
          </a:effectLst>
        </p:spPr>
      </p:sp>
      <p:sp>
        <p:nvSpPr>
          <p:cNvPr id="11" name="text-53"/>
          <p:cNvSpPr txBox="1"/>
          <p:nvPr/>
        </p:nvSpPr>
        <p:spPr>
          <a:xfrm>
            <a:off x="6995160" y="1600200"/>
            <a:ext cx="4389120" cy="868680"/>
          </a:xfrm>
          <a:prstGeom prst="rect">
            <a:avLst/>
          </a:prstGeom>
          <a:noFill/>
          <a:ln/>
        </p:spPr>
        <p:txBody>
          <a:bodyPr wrap="square" lIns="0" tIns="0" rIns="0" bIns="0" rtlCol="0" anchor="t"/>
          <a:lstStyle/>
          <a:p>
            <a:pPr indent="0" marL="0">
              <a:buNone/>
            </a:pPr>
            <a:r>
              <a:rPr lang="en-US" sz="2100" b="1" dirty="0">
                <a:solidFill>
                  <a:schemeClr val="tx1"/>
                </a:solidFill>
              </a:rPr>
              <a:t>Me: </a:t>
            </a:r>
            <a:pPr indent="0" marL="0">
              <a:buNone/>
            </a:pPr>
            <a:r>
              <a:rPr lang="en-US" sz="2100" dirty="0">
                <a:solidFill>
                  <a:schemeClr val="tx1"/>
                </a:solidFill>
              </a:rPr>
              <a:t>“I'll just check every seating.” 🤓</a:t>
            </a:r>
            <a:endParaRPr lang="en-US" sz="2100" dirty="0"/>
          </a:p>
        </p:txBody>
      </p:sp>
      <p:sp>
        <p:nvSpPr>
          <p:cNvPr id="12" name="text-54"/>
          <p:cNvSpPr txBox="1"/>
          <p:nvPr/>
        </p:nvSpPr>
        <p:spPr>
          <a:xfrm>
            <a:off x="6995160" y="2514600"/>
            <a:ext cx="4389120" cy="1097280"/>
          </a:xfrm>
          <a:prstGeom prst="rect">
            <a:avLst/>
          </a:prstGeom>
          <a:noFill/>
          <a:ln/>
        </p:spPr>
        <p:txBody>
          <a:bodyPr wrap="square" lIns="0" tIns="0" rIns="0" bIns="0" rtlCol="0" anchor="ctr"/>
          <a:lstStyle/>
          <a:p>
            <a:pPr algn="ctr" indent="0" marL="0">
              <a:buNone/>
            </a:pPr>
            <a:r>
              <a:rPr lang="en-US" sz="6400" dirty="0">
                <a:solidFill>
                  <a:srgbClr val="000000"/>
                </a:solidFill>
                <a:latin typeface="Segoe UI Emoji" pitchFamily="34" charset="0"/>
                <a:ea typeface="Segoe UI Emoji" pitchFamily="34" charset="-122"/>
                <a:cs typeface="Segoe UI Emoji" pitchFamily="34" charset="-120"/>
              </a:rPr>
              <a:t>💻🔥</a:t>
            </a:r>
            <a:endParaRPr lang="en-US" sz="6400" dirty="0"/>
          </a:p>
        </p:txBody>
      </p:sp>
      <p:sp>
        <p:nvSpPr>
          <p:cNvPr id="13" name="text-55"/>
          <p:cNvSpPr txBox="1"/>
          <p:nvPr/>
        </p:nvSpPr>
        <p:spPr>
          <a:xfrm>
            <a:off x="6995160" y="3749040"/>
            <a:ext cx="4389120" cy="685800"/>
          </a:xfrm>
          <a:prstGeom prst="rect">
            <a:avLst/>
          </a:prstGeom>
          <a:noFill/>
          <a:ln/>
        </p:spPr>
        <p:txBody>
          <a:bodyPr wrap="square" lIns="0" tIns="0" rIns="0" bIns="0" rtlCol="0" anchor="t"/>
          <a:lstStyle/>
          <a:p>
            <a:pPr indent="0" marL="0">
              <a:buNone/>
            </a:pPr>
            <a:r>
              <a:rPr lang="en-US" sz="1800" dirty="0">
                <a:solidFill>
                  <a:schemeClr val="tx1"/>
                </a:solidFill>
              </a:rPr>
              <a:t>My laptop, checking 1 billion seatings per second:</a:t>
            </a:r>
            <a:endParaRPr lang="en-US" sz="1800" dirty="0"/>
          </a:p>
        </p:txBody>
      </p:sp>
      <p:sp>
        <p:nvSpPr>
          <p:cNvPr id="14" name="text-56"/>
          <p:cNvSpPr txBox="1"/>
          <p:nvPr/>
        </p:nvSpPr>
        <p:spPr>
          <a:xfrm>
            <a:off x="6995160" y="4434840"/>
            <a:ext cx="4389120" cy="548640"/>
          </a:xfrm>
          <a:prstGeom prst="rect">
            <a:avLst/>
          </a:prstGeom>
          <a:noFill/>
          <a:ln/>
        </p:spPr>
        <p:txBody>
          <a:bodyPr wrap="square" lIns="0" tIns="0" rIns="0" bIns="0" rtlCol="0" anchor="t"/>
          <a:lstStyle/>
          <a:p>
            <a:pPr indent="0" marL="0">
              <a:buNone/>
            </a:pPr>
            <a:r>
              <a:rPr lang="en-US" sz="2400" b="1" dirty="0">
                <a:solidFill>
                  <a:schemeClr val="accent1"/>
                </a:solidFill>
              </a:rPr>
              <a:t>“Done in ~10</a:t>
            </a:r>
            <a:pPr indent="0" marL="0">
              <a:buNone/>
            </a:pPr>
            <a:r>
              <a:rPr lang="en-US" sz="2400" b="1" baseline="30000" dirty="0">
                <a:solidFill>
                  <a:schemeClr val="accent1"/>
                </a:solidFill>
              </a:rPr>
              <a:t>76</a:t>
            </a:r>
            <a:pPr indent="0" marL="0">
              <a:buNone/>
            </a:pPr>
            <a:r>
              <a:rPr lang="en-US" sz="2400" b="1" dirty="0">
                <a:solidFill>
                  <a:schemeClr val="accent1"/>
                </a:solidFill>
              </a:rPr>
              <a:t> years.” 💀</a:t>
            </a:r>
            <a:endParaRPr lang="en-US" sz="2400" dirty="0"/>
          </a:p>
        </p:txBody>
      </p:sp>
      <p:sp>
        <p:nvSpPr>
          <p:cNvPr id="15" name="text-57"/>
          <p:cNvSpPr txBox="1"/>
          <p:nvPr/>
        </p:nvSpPr>
        <p:spPr>
          <a:xfrm>
            <a:off x="6995160" y="5166360"/>
            <a:ext cx="4389120" cy="457200"/>
          </a:xfrm>
          <a:prstGeom prst="rect">
            <a:avLst/>
          </a:prstGeom>
          <a:noFill/>
          <a:ln/>
        </p:spPr>
        <p:txBody>
          <a:bodyPr wrap="square" lIns="0" tIns="0" rIns="0" bIns="0" rtlCol="0" anchor="t"/>
          <a:lstStyle/>
          <a:p>
            <a:pPr indent="0" marL="0">
              <a:buNone/>
            </a:pPr>
            <a:r>
              <a:rPr lang="en-US" sz="1400" dirty="0">
                <a:solidFill>
                  <a:schemeClr val="accent6"/>
                </a:solidFill>
              </a:rPr>
              <a:t>(The universe is ~1.4 × 10</a:t>
            </a:r>
            <a:pPr indent="0" marL="0">
              <a:buNone/>
            </a:pPr>
            <a:r>
              <a:rPr lang="en-US" sz="1400" baseline="30000" dirty="0">
                <a:solidFill>
                  <a:schemeClr val="accent6"/>
                </a:solidFill>
              </a:rPr>
              <a:t>10</a:t>
            </a:r>
            <a:pPr indent="0" marL="0">
              <a:buNone/>
            </a:pPr>
            <a:r>
              <a:rPr lang="en-US" sz="1400" dirty="0">
                <a:solidFill>
                  <a:schemeClr val="accent6"/>
                </a:solidFill>
              </a:rPr>
              <a:t> years old.)</a:t>
            </a:r>
            <a:endParaRPr lang="en-US" sz="14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It's not just a toi problem</a:t>
            </a:r>
            <a:endParaRPr lang="en-US" sz="3600" dirty="0"/>
          </a:p>
        </p:txBody>
      </p:sp>
      <p:sp>
        <p:nvSpPr>
          <p:cNvPr id="3" name="text-58"/>
          <p:cNvSpPr txBox="1"/>
          <p:nvPr/>
        </p:nvSpPr>
        <p:spPr>
          <a:xfrm>
            <a:off x="548640" y="1280160"/>
            <a:ext cx="11064240" cy="548640"/>
          </a:xfrm>
          <a:prstGeom prst="rect">
            <a:avLst/>
          </a:prstGeom>
          <a:noFill/>
          <a:ln/>
        </p:spPr>
        <p:txBody>
          <a:bodyPr wrap="square" lIns="0" tIns="0" rIns="0" bIns="0" rtlCol="0" anchor="ctr"/>
          <a:lstStyle/>
          <a:p>
            <a:pPr indent="0" marL="0">
              <a:buNone/>
            </a:pPr>
            <a:r>
              <a:rPr lang="en-US" sz="1800" dirty="0">
                <a:solidFill>
                  <a:schemeClr val="tx1"/>
                </a:solidFill>
              </a:rPr>
              <a:t>Same math everywhere: split people into groups of fixed size so that “who likes whom” is maximised.</a:t>
            </a:r>
            <a:endParaRPr lang="en-US" sz="1800" dirty="0"/>
          </a:p>
        </p:txBody>
      </p:sp>
      <p:sp>
        <p:nvSpPr>
          <p:cNvPr id="4" name="card-59"/>
          <p:cNvSpPr/>
          <p:nvPr/>
        </p:nvSpPr>
        <p:spPr>
          <a:xfrm>
            <a:off x="548640" y="2057400"/>
            <a:ext cx="3535985" cy="1828800"/>
          </a:xfrm>
          <a:prstGeom prst="roundRect">
            <a:avLst>
              <a:gd name="adj" fmla="val 6000"/>
            </a:avLst>
          </a:prstGeom>
          <a:solidFill>
            <a:schemeClr val="bg2"/>
          </a:solidFill>
          <a:ln w="12700">
            <a:solidFill>
              <a:schemeClr val="bg2"/>
            </a:solidFill>
            <a:prstDash val="solid"/>
          </a:ln>
        </p:spPr>
      </p:sp>
      <p:sp>
        <p:nvSpPr>
          <p:cNvPr id="5" name="emoji-60"/>
          <p:cNvSpPr txBox="1"/>
          <p:nvPr/>
        </p:nvSpPr>
        <p:spPr>
          <a:xfrm>
            <a:off x="777240" y="2331720"/>
            <a:ext cx="777240" cy="7772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700" dirty="0">
                <a:solidFill>
                  <a:srgbClr val="000000"/>
                </a:solidFill>
                <a:latin typeface="Segoe UI Emoji" pitchFamily="34" charset="0"/>
                <a:ea typeface="Segoe UI Emoji" pitchFamily="34" charset="-122"/>
                <a:cs typeface="Segoe UI Emoji" pitchFamily="34" charset="-120"/>
              </a:rPr>
              <a:t>💍</a:t>
            </a:r>
            <a:endParaRPr lang="en-US" sz="2700" dirty="0"/>
          </a:p>
        </p:txBody>
      </p:sp>
      <p:sp>
        <p:nvSpPr>
          <p:cNvPr id="6" name="text-61"/>
          <p:cNvSpPr txBox="1"/>
          <p:nvPr/>
        </p:nvSpPr>
        <p:spPr>
          <a:xfrm>
            <a:off x="1737360" y="2331720"/>
            <a:ext cx="2194560" cy="457200"/>
          </a:xfrm>
          <a:prstGeom prst="rect">
            <a:avLst/>
          </a:prstGeom>
          <a:noFill/>
          <a:ln/>
        </p:spPr>
        <p:txBody>
          <a:bodyPr wrap="square" lIns="0" tIns="0" rIns="0" bIns="0" rtlCol="0" anchor="t"/>
          <a:lstStyle/>
          <a:p>
            <a:pPr indent="0" marL="0">
              <a:buNone/>
            </a:pPr>
            <a:r>
              <a:rPr lang="en-US" sz="1900" b="1" dirty="0">
                <a:solidFill>
                  <a:schemeClr val="tx1"/>
                </a:solidFill>
              </a:rPr>
              <a:t>Weddings</a:t>
            </a:r>
            <a:endParaRPr lang="en-US" sz="1900" dirty="0"/>
          </a:p>
        </p:txBody>
      </p:sp>
      <p:sp>
        <p:nvSpPr>
          <p:cNvPr id="7" name="text-62"/>
          <p:cNvSpPr txBox="1"/>
          <p:nvPr/>
        </p:nvSpPr>
        <p:spPr>
          <a:xfrm>
            <a:off x="1737360" y="2834640"/>
            <a:ext cx="2194560" cy="914400"/>
          </a:xfrm>
          <a:prstGeom prst="rect">
            <a:avLst/>
          </a:prstGeom>
          <a:noFill/>
          <a:ln/>
        </p:spPr>
        <p:txBody>
          <a:bodyPr wrap="square" lIns="0" tIns="0" rIns="0" bIns="0" rtlCol="0" anchor="t"/>
          <a:lstStyle/>
          <a:p>
            <a:pPr indent="0" marL="0">
              <a:buNone/>
            </a:pPr>
            <a:r>
              <a:rPr lang="en-US" sz="1500" dirty="0">
                <a:solidFill>
                  <a:schemeClr val="tx1"/>
                </a:solidFill>
              </a:rPr>
              <a:t>Hundreds of guests, the same family drama.</a:t>
            </a:r>
            <a:endParaRPr lang="en-US" sz="1500" dirty="0"/>
          </a:p>
        </p:txBody>
      </p:sp>
      <p:sp>
        <p:nvSpPr>
          <p:cNvPr id="8" name="card-63"/>
          <p:cNvSpPr/>
          <p:nvPr/>
        </p:nvSpPr>
        <p:spPr>
          <a:xfrm>
            <a:off x="4313225" y="2057400"/>
            <a:ext cx="3535985" cy="1828800"/>
          </a:xfrm>
          <a:prstGeom prst="roundRect">
            <a:avLst>
              <a:gd name="adj" fmla="val 6000"/>
            </a:avLst>
          </a:prstGeom>
          <a:solidFill>
            <a:schemeClr val="bg2"/>
          </a:solidFill>
          <a:ln w="12700">
            <a:solidFill>
              <a:schemeClr val="bg2"/>
            </a:solidFill>
            <a:prstDash val="solid"/>
          </a:ln>
        </p:spPr>
      </p:sp>
      <p:sp>
        <p:nvSpPr>
          <p:cNvPr id="9" name="emoji-64"/>
          <p:cNvSpPr txBox="1"/>
          <p:nvPr/>
        </p:nvSpPr>
        <p:spPr>
          <a:xfrm>
            <a:off x="4541825" y="2331720"/>
            <a:ext cx="777240" cy="7772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700" dirty="0">
                <a:solidFill>
                  <a:srgbClr val="000000"/>
                </a:solidFill>
                <a:latin typeface="Segoe UI Emoji" pitchFamily="34" charset="0"/>
                <a:ea typeface="Segoe UI Emoji" pitchFamily="34" charset="-122"/>
                <a:cs typeface="Segoe UI Emoji" pitchFamily="34" charset="-120"/>
              </a:rPr>
              <a:t>📝</a:t>
            </a:r>
            <a:endParaRPr lang="en-US" sz="2700" dirty="0"/>
          </a:p>
        </p:txBody>
      </p:sp>
      <p:sp>
        <p:nvSpPr>
          <p:cNvPr id="10" name="text-65"/>
          <p:cNvSpPr txBox="1"/>
          <p:nvPr/>
        </p:nvSpPr>
        <p:spPr>
          <a:xfrm>
            <a:off x="5501945" y="2331720"/>
            <a:ext cx="2194560" cy="457200"/>
          </a:xfrm>
          <a:prstGeom prst="rect">
            <a:avLst/>
          </a:prstGeom>
          <a:noFill/>
          <a:ln/>
        </p:spPr>
        <p:txBody>
          <a:bodyPr wrap="square" lIns="0" tIns="0" rIns="0" bIns="0" rtlCol="0" anchor="t"/>
          <a:lstStyle/>
          <a:p>
            <a:pPr indent="0" marL="0">
              <a:buNone/>
            </a:pPr>
            <a:r>
              <a:rPr lang="en-US" sz="1900" b="1" dirty="0">
                <a:solidFill>
                  <a:schemeClr val="tx1"/>
                </a:solidFill>
              </a:rPr>
              <a:t>Exam seating</a:t>
            </a:r>
            <a:endParaRPr lang="en-US" sz="1900" dirty="0"/>
          </a:p>
        </p:txBody>
      </p:sp>
      <p:sp>
        <p:nvSpPr>
          <p:cNvPr id="11" name="text-66"/>
          <p:cNvSpPr txBox="1"/>
          <p:nvPr/>
        </p:nvSpPr>
        <p:spPr>
          <a:xfrm>
            <a:off x="5501945" y="2834640"/>
            <a:ext cx="2194560" cy="914400"/>
          </a:xfrm>
          <a:prstGeom prst="rect">
            <a:avLst/>
          </a:prstGeom>
          <a:noFill/>
          <a:ln/>
        </p:spPr>
        <p:txBody>
          <a:bodyPr wrap="square" lIns="0" tIns="0" rIns="0" bIns="0" rtlCol="0" anchor="t"/>
          <a:lstStyle/>
          <a:p>
            <a:pPr indent="0" marL="0">
              <a:buNone/>
            </a:pPr>
            <a:r>
              <a:rPr lang="en-US" sz="1500" dirty="0">
                <a:solidFill>
                  <a:schemeClr val="tx1"/>
                </a:solidFill>
              </a:rPr>
              <a:t>Keep friends (and cheat sheets) apart.</a:t>
            </a:r>
            <a:endParaRPr lang="en-US" sz="1500" dirty="0"/>
          </a:p>
        </p:txBody>
      </p:sp>
      <p:sp>
        <p:nvSpPr>
          <p:cNvPr id="12" name="card-67"/>
          <p:cNvSpPr/>
          <p:nvPr/>
        </p:nvSpPr>
        <p:spPr>
          <a:xfrm>
            <a:off x="8077810" y="2057400"/>
            <a:ext cx="3535985" cy="1828800"/>
          </a:xfrm>
          <a:prstGeom prst="roundRect">
            <a:avLst>
              <a:gd name="adj" fmla="val 6000"/>
            </a:avLst>
          </a:prstGeom>
          <a:solidFill>
            <a:schemeClr val="bg2"/>
          </a:solidFill>
          <a:ln w="12700">
            <a:solidFill>
              <a:schemeClr val="bg2"/>
            </a:solidFill>
            <a:prstDash val="solid"/>
          </a:ln>
        </p:spPr>
      </p:sp>
      <p:sp>
        <p:nvSpPr>
          <p:cNvPr id="13" name="emoji-68"/>
          <p:cNvSpPr txBox="1"/>
          <p:nvPr/>
        </p:nvSpPr>
        <p:spPr>
          <a:xfrm>
            <a:off x="8306410" y="2331720"/>
            <a:ext cx="777240" cy="7772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700" dirty="0">
                <a:solidFill>
                  <a:srgbClr val="000000"/>
                </a:solidFill>
                <a:latin typeface="Segoe UI Emoji" pitchFamily="34" charset="0"/>
                <a:ea typeface="Segoe UI Emoji" pitchFamily="34" charset="-122"/>
                <a:cs typeface="Segoe UI Emoji" pitchFamily="34" charset="-120"/>
              </a:rPr>
              <a:t>🏢</a:t>
            </a:r>
            <a:endParaRPr lang="en-US" sz="2700" dirty="0"/>
          </a:p>
        </p:txBody>
      </p:sp>
      <p:sp>
        <p:nvSpPr>
          <p:cNvPr id="14" name="text-69"/>
          <p:cNvSpPr txBox="1"/>
          <p:nvPr/>
        </p:nvSpPr>
        <p:spPr>
          <a:xfrm>
            <a:off x="9266530" y="2331720"/>
            <a:ext cx="2194560" cy="457200"/>
          </a:xfrm>
          <a:prstGeom prst="rect">
            <a:avLst/>
          </a:prstGeom>
          <a:noFill/>
          <a:ln/>
        </p:spPr>
        <p:txBody>
          <a:bodyPr wrap="square" lIns="0" tIns="0" rIns="0" bIns="0" rtlCol="0" anchor="t"/>
          <a:lstStyle/>
          <a:p>
            <a:pPr indent="0" marL="0">
              <a:buNone/>
            </a:pPr>
            <a:r>
              <a:rPr lang="en-US" sz="1900" b="1" dirty="0">
                <a:solidFill>
                  <a:schemeClr val="tx1"/>
                </a:solidFill>
              </a:rPr>
              <a:t>Office desks</a:t>
            </a:r>
            <a:endParaRPr lang="en-US" sz="1900" dirty="0"/>
          </a:p>
        </p:txBody>
      </p:sp>
      <p:sp>
        <p:nvSpPr>
          <p:cNvPr id="15" name="text-70"/>
          <p:cNvSpPr txBox="1"/>
          <p:nvPr/>
        </p:nvSpPr>
        <p:spPr>
          <a:xfrm>
            <a:off x="9266530" y="2834640"/>
            <a:ext cx="2194560" cy="914400"/>
          </a:xfrm>
          <a:prstGeom prst="rect">
            <a:avLst/>
          </a:prstGeom>
          <a:noFill/>
          <a:ln/>
        </p:spPr>
        <p:txBody>
          <a:bodyPr wrap="square" lIns="0" tIns="0" rIns="0" bIns="0" rtlCol="0" anchor="t"/>
          <a:lstStyle/>
          <a:p>
            <a:pPr indent="0" marL="0">
              <a:buNone/>
            </a:pPr>
            <a:r>
              <a:rPr lang="en-US" sz="1500" dirty="0">
                <a:solidFill>
                  <a:schemeClr val="tx1"/>
                </a:solidFill>
              </a:rPr>
              <a:t>Teams that work together sit together.</a:t>
            </a:r>
            <a:endParaRPr lang="en-US" sz="1500" dirty="0"/>
          </a:p>
        </p:txBody>
      </p:sp>
      <p:sp>
        <p:nvSpPr>
          <p:cNvPr id="16" name="card-71"/>
          <p:cNvSpPr/>
          <p:nvPr/>
        </p:nvSpPr>
        <p:spPr>
          <a:xfrm>
            <a:off x="548640" y="4114800"/>
            <a:ext cx="3535985" cy="1828800"/>
          </a:xfrm>
          <a:prstGeom prst="roundRect">
            <a:avLst>
              <a:gd name="adj" fmla="val 6000"/>
            </a:avLst>
          </a:prstGeom>
          <a:solidFill>
            <a:schemeClr val="bg2"/>
          </a:solidFill>
          <a:ln w="12700">
            <a:solidFill>
              <a:schemeClr val="bg2"/>
            </a:solidFill>
            <a:prstDash val="solid"/>
          </a:ln>
        </p:spPr>
      </p:sp>
      <p:sp>
        <p:nvSpPr>
          <p:cNvPr id="17" name="emoji-72"/>
          <p:cNvSpPr txBox="1"/>
          <p:nvPr/>
        </p:nvSpPr>
        <p:spPr>
          <a:xfrm>
            <a:off x="777240" y="4389120"/>
            <a:ext cx="777240" cy="7772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700" dirty="0">
                <a:solidFill>
                  <a:srgbClr val="000000"/>
                </a:solidFill>
                <a:latin typeface="Segoe UI Emoji" pitchFamily="34" charset="0"/>
                <a:ea typeface="Segoe UI Emoji" pitchFamily="34" charset="-122"/>
                <a:cs typeface="Segoe UI Emoji" pitchFamily="34" charset="-120"/>
              </a:rPr>
              <a:t>👥</a:t>
            </a:r>
            <a:endParaRPr lang="en-US" sz="2700" dirty="0"/>
          </a:p>
        </p:txBody>
      </p:sp>
      <p:sp>
        <p:nvSpPr>
          <p:cNvPr id="18" name="text-73"/>
          <p:cNvSpPr txBox="1"/>
          <p:nvPr/>
        </p:nvSpPr>
        <p:spPr>
          <a:xfrm>
            <a:off x="1737360" y="4389120"/>
            <a:ext cx="2194560" cy="457200"/>
          </a:xfrm>
          <a:prstGeom prst="rect">
            <a:avLst/>
          </a:prstGeom>
          <a:noFill/>
          <a:ln/>
        </p:spPr>
        <p:txBody>
          <a:bodyPr wrap="square" lIns="0" tIns="0" rIns="0" bIns="0" rtlCol="0" anchor="t"/>
          <a:lstStyle/>
          <a:p>
            <a:pPr indent="0" marL="0">
              <a:buNone/>
            </a:pPr>
            <a:r>
              <a:rPr lang="en-US" sz="1900" b="1" dirty="0">
                <a:solidFill>
                  <a:schemeClr val="tx1"/>
                </a:solidFill>
              </a:rPr>
              <a:t>Student groups</a:t>
            </a:r>
            <a:endParaRPr lang="en-US" sz="1900" dirty="0"/>
          </a:p>
        </p:txBody>
      </p:sp>
      <p:sp>
        <p:nvSpPr>
          <p:cNvPr id="19" name="text-74"/>
          <p:cNvSpPr txBox="1"/>
          <p:nvPr/>
        </p:nvSpPr>
        <p:spPr>
          <a:xfrm>
            <a:off x="1737360" y="4892040"/>
            <a:ext cx="2194560" cy="914400"/>
          </a:xfrm>
          <a:prstGeom prst="rect">
            <a:avLst/>
          </a:prstGeom>
          <a:noFill/>
          <a:ln/>
        </p:spPr>
        <p:txBody>
          <a:bodyPr wrap="square" lIns="0" tIns="0" rIns="0" bIns="0" rtlCol="0" anchor="t"/>
          <a:lstStyle/>
          <a:p>
            <a:pPr indent="0" marL="0">
              <a:buNone/>
            </a:pPr>
            <a:r>
              <a:rPr lang="en-US" sz="1500" dirty="0">
                <a:solidFill>
                  <a:schemeClr val="tx1"/>
                </a:solidFill>
              </a:rPr>
              <a:t>Groups of 3 with balanced skills, like this project!</a:t>
            </a:r>
            <a:endParaRPr lang="en-US" sz="1500" dirty="0"/>
          </a:p>
        </p:txBody>
      </p:sp>
      <p:sp>
        <p:nvSpPr>
          <p:cNvPr id="20" name="card-75"/>
          <p:cNvSpPr/>
          <p:nvPr/>
        </p:nvSpPr>
        <p:spPr>
          <a:xfrm>
            <a:off x="4313225" y="4114800"/>
            <a:ext cx="3535985" cy="1828800"/>
          </a:xfrm>
          <a:prstGeom prst="roundRect">
            <a:avLst>
              <a:gd name="adj" fmla="val 6000"/>
            </a:avLst>
          </a:prstGeom>
          <a:solidFill>
            <a:schemeClr val="bg2"/>
          </a:solidFill>
          <a:ln w="12700">
            <a:solidFill>
              <a:schemeClr val="bg2"/>
            </a:solidFill>
            <a:prstDash val="solid"/>
          </a:ln>
        </p:spPr>
      </p:sp>
      <p:sp>
        <p:nvSpPr>
          <p:cNvPr id="21" name="emoji-76"/>
          <p:cNvSpPr txBox="1"/>
          <p:nvPr/>
        </p:nvSpPr>
        <p:spPr>
          <a:xfrm>
            <a:off x="4541825" y="4389120"/>
            <a:ext cx="777240" cy="7772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700" dirty="0">
                <a:solidFill>
                  <a:srgbClr val="000000"/>
                </a:solidFill>
                <a:latin typeface="Segoe UI Emoji" pitchFamily="34" charset="0"/>
                <a:ea typeface="Segoe UI Emoji" pitchFamily="34" charset="-122"/>
                <a:cs typeface="Segoe UI Emoji" pitchFamily="34" charset="-120"/>
              </a:rPr>
              <a:t>🎤</a:t>
            </a:r>
            <a:endParaRPr lang="en-US" sz="2700" dirty="0"/>
          </a:p>
        </p:txBody>
      </p:sp>
      <p:sp>
        <p:nvSpPr>
          <p:cNvPr id="22" name="text-77"/>
          <p:cNvSpPr txBox="1"/>
          <p:nvPr/>
        </p:nvSpPr>
        <p:spPr>
          <a:xfrm>
            <a:off x="5501945" y="4389120"/>
            <a:ext cx="2194560" cy="457200"/>
          </a:xfrm>
          <a:prstGeom prst="rect">
            <a:avLst/>
          </a:prstGeom>
          <a:noFill/>
          <a:ln/>
        </p:spPr>
        <p:txBody>
          <a:bodyPr wrap="square" lIns="0" tIns="0" rIns="0" bIns="0" rtlCol="0" anchor="t"/>
          <a:lstStyle/>
          <a:p>
            <a:pPr indent="0" marL="0">
              <a:buNone/>
            </a:pPr>
            <a:r>
              <a:rPr lang="en-US" sz="1900" b="1" dirty="0">
                <a:solidFill>
                  <a:schemeClr val="tx1"/>
                </a:solidFill>
              </a:rPr>
              <a:t>Conferences</a:t>
            </a:r>
            <a:endParaRPr lang="en-US" sz="1900" dirty="0"/>
          </a:p>
        </p:txBody>
      </p:sp>
      <p:sp>
        <p:nvSpPr>
          <p:cNvPr id="23" name="text-78"/>
          <p:cNvSpPr txBox="1"/>
          <p:nvPr/>
        </p:nvSpPr>
        <p:spPr>
          <a:xfrm>
            <a:off x="5501945" y="4892040"/>
            <a:ext cx="2194560" cy="914400"/>
          </a:xfrm>
          <a:prstGeom prst="rect">
            <a:avLst/>
          </a:prstGeom>
          <a:noFill/>
          <a:ln/>
        </p:spPr>
        <p:txBody>
          <a:bodyPr wrap="square" lIns="0" tIns="0" rIns="0" bIns="0" rtlCol="0" anchor="t"/>
          <a:lstStyle/>
          <a:p>
            <a:pPr indent="0" marL="0">
              <a:buNone/>
            </a:pPr>
            <a:r>
              <a:rPr lang="en-US" sz="1500" dirty="0">
                <a:solidFill>
                  <a:schemeClr val="tx1"/>
                </a:solidFill>
              </a:rPr>
              <a:t>Networking tables that mix the right people.</a:t>
            </a:r>
            <a:endParaRPr lang="en-US" sz="1500" dirty="0"/>
          </a:p>
        </p:txBody>
      </p:sp>
      <p:sp>
        <p:nvSpPr>
          <p:cNvPr id="24" name="card-79"/>
          <p:cNvSpPr/>
          <p:nvPr/>
        </p:nvSpPr>
        <p:spPr>
          <a:xfrm>
            <a:off x="8077810" y="4114800"/>
            <a:ext cx="3535985" cy="1828800"/>
          </a:xfrm>
          <a:prstGeom prst="roundRect">
            <a:avLst>
              <a:gd name="adj" fmla="val 6000"/>
            </a:avLst>
          </a:prstGeom>
          <a:solidFill>
            <a:schemeClr val="bg2"/>
          </a:solidFill>
          <a:ln w="12700">
            <a:solidFill>
              <a:schemeClr val="bg2"/>
            </a:solidFill>
            <a:prstDash val="solid"/>
          </a:ln>
        </p:spPr>
      </p:sp>
      <p:sp>
        <p:nvSpPr>
          <p:cNvPr id="25" name="emoji-80"/>
          <p:cNvSpPr txBox="1"/>
          <p:nvPr/>
        </p:nvSpPr>
        <p:spPr>
          <a:xfrm>
            <a:off x="8306410" y="4389120"/>
            <a:ext cx="777240" cy="7772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700" dirty="0">
                <a:solidFill>
                  <a:srgbClr val="000000"/>
                </a:solidFill>
                <a:latin typeface="Segoe UI Emoji" pitchFamily="34" charset="0"/>
                <a:ea typeface="Segoe UI Emoji" pitchFamily="34" charset="-122"/>
                <a:cs typeface="Segoe UI Emoji" pitchFamily="34" charset="-120"/>
              </a:rPr>
              <a:t>🚌</a:t>
            </a:r>
            <a:endParaRPr lang="en-US" sz="2700" dirty="0"/>
          </a:p>
        </p:txBody>
      </p:sp>
      <p:sp>
        <p:nvSpPr>
          <p:cNvPr id="26" name="text-81"/>
          <p:cNvSpPr txBox="1"/>
          <p:nvPr/>
        </p:nvSpPr>
        <p:spPr>
          <a:xfrm>
            <a:off x="9266530" y="4389120"/>
            <a:ext cx="2194560" cy="457200"/>
          </a:xfrm>
          <a:prstGeom prst="rect">
            <a:avLst/>
          </a:prstGeom>
          <a:noFill/>
          <a:ln/>
        </p:spPr>
        <p:txBody>
          <a:bodyPr wrap="square" lIns="0" tIns="0" rIns="0" bIns="0" rtlCol="0" anchor="t"/>
          <a:lstStyle/>
          <a:p>
            <a:pPr indent="0" marL="0">
              <a:buNone/>
            </a:pPr>
            <a:r>
              <a:rPr lang="en-US" sz="1900" b="1" dirty="0">
                <a:solidFill>
                  <a:schemeClr val="tx1"/>
                </a:solidFill>
              </a:rPr>
              <a:t>Buses &amp; flights</a:t>
            </a:r>
            <a:endParaRPr lang="en-US" sz="1900" dirty="0"/>
          </a:p>
        </p:txBody>
      </p:sp>
      <p:sp>
        <p:nvSpPr>
          <p:cNvPr id="27" name="text-82"/>
          <p:cNvSpPr txBox="1"/>
          <p:nvPr/>
        </p:nvSpPr>
        <p:spPr>
          <a:xfrm>
            <a:off x="9266530" y="4892040"/>
            <a:ext cx="2194560" cy="914400"/>
          </a:xfrm>
          <a:prstGeom prst="rect">
            <a:avLst/>
          </a:prstGeom>
          <a:noFill/>
          <a:ln/>
        </p:spPr>
        <p:txBody>
          <a:bodyPr wrap="square" lIns="0" tIns="0" rIns="0" bIns="0" rtlCol="0" anchor="t"/>
          <a:lstStyle/>
          <a:p>
            <a:pPr indent="0" marL="0">
              <a:buNone/>
            </a:pPr>
            <a:r>
              <a:rPr lang="en-US" sz="1500" dirty="0">
                <a:solidFill>
                  <a:schemeClr val="tx1"/>
                </a:solidFill>
              </a:rPr>
              <a:t>Families and friends seated side by side.</a:t>
            </a:r>
            <a:endParaRPr lang="en-US" sz="15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Our secret weapon: evolution</a:t>
            </a:r>
            <a:endParaRPr lang="en-US" sz="3600" dirty="0"/>
          </a:p>
        </p:txBody>
      </p:sp>
      <p:sp>
        <p:nvSpPr>
          <p:cNvPr id="3" name="card-83"/>
          <p:cNvSpPr/>
          <p:nvPr/>
        </p:nvSpPr>
        <p:spPr>
          <a:xfrm>
            <a:off x="1097280" y="1371600"/>
            <a:ext cx="2926080" cy="2240280"/>
          </a:xfrm>
          <a:prstGeom prst="roundRect">
            <a:avLst>
              <a:gd name="adj" fmla="val 4898"/>
            </a:avLst>
          </a:prstGeom>
          <a:solidFill>
            <a:schemeClr val="bg2"/>
          </a:solidFill>
          <a:ln w="12700">
            <a:solidFill>
              <a:schemeClr val="bg2"/>
            </a:solidFill>
            <a:prstDash val="solid"/>
          </a:ln>
        </p:spPr>
      </p:sp>
      <p:sp>
        <p:nvSpPr>
          <p:cNvPr id="4" name="text-84"/>
          <p:cNvSpPr txBox="1"/>
          <p:nvPr/>
        </p:nvSpPr>
        <p:spPr>
          <a:xfrm>
            <a:off x="1097280" y="1371600"/>
            <a:ext cx="2926080" cy="2240280"/>
          </a:xfrm>
          <a:prstGeom prst="rect">
            <a:avLst/>
          </a:prstGeom>
          <a:noFill/>
          <a:ln/>
        </p:spPr>
        <p:txBody>
          <a:bodyPr wrap="square" lIns="0" tIns="0" rIns="0" bIns="0" rtlCol="0" anchor="ctr"/>
          <a:lstStyle/>
          <a:p>
            <a:pPr algn="ctr" indent="0" marL="0">
              <a:buNone/>
            </a:pPr>
            <a:r>
              <a:rPr lang="en-US" sz="11000" dirty="0">
                <a:solidFill>
                  <a:srgbClr val="000000"/>
                </a:solidFill>
                <a:latin typeface="Segoe UI Emoji" pitchFamily="34" charset="0"/>
                <a:ea typeface="Segoe UI Emoji" pitchFamily="34" charset="-122"/>
                <a:cs typeface="Segoe UI Emoji" pitchFamily="34" charset="-120"/>
              </a:rPr>
              <a:t>🙅</a:t>
            </a:r>
            <a:endParaRPr lang="en-US" sz="11000" dirty="0"/>
          </a:p>
        </p:txBody>
      </p:sp>
      <p:sp>
        <p:nvSpPr>
          <p:cNvPr id="5" name="card-85"/>
          <p:cNvSpPr/>
          <p:nvPr/>
        </p:nvSpPr>
        <p:spPr>
          <a:xfrm>
            <a:off x="4206240" y="1371600"/>
            <a:ext cx="6858000" cy="2240280"/>
          </a:xfrm>
          <a:prstGeom prst="roundRect">
            <a:avLst>
              <a:gd name="adj" fmla="val 4898"/>
            </a:avLst>
          </a:prstGeom>
          <a:solidFill>
            <a:schemeClr val="bg1"/>
          </a:solidFill>
          <a:ln w="19050">
            <a:solidFill>
              <a:srgbClr val="E5DADD"/>
            </a:solidFill>
            <a:prstDash val="solid"/>
          </a:ln>
        </p:spPr>
      </p:sp>
      <p:sp>
        <p:nvSpPr>
          <p:cNvPr id="6" name="text-86"/>
          <p:cNvSpPr txBox="1"/>
          <p:nvPr/>
        </p:nvSpPr>
        <p:spPr>
          <a:xfrm>
            <a:off x="4572000" y="1371600"/>
            <a:ext cx="6217920" cy="2240280"/>
          </a:xfrm>
          <a:prstGeom prst="rect">
            <a:avLst/>
          </a:prstGeom>
          <a:noFill/>
          <a:ln/>
        </p:spPr>
        <p:txBody>
          <a:bodyPr wrap="square" lIns="0" tIns="0" rIns="0" bIns="0" rtlCol="0" anchor="ctr"/>
          <a:lstStyle/>
          <a:p>
            <a:pPr indent="0" marL="0">
              <a:buNone/>
            </a:pPr>
            <a:r>
              <a:rPr lang="en-US" sz="3000" b="1" dirty="0">
                <a:solidFill>
                  <a:schemeClr val="tx1"/>
                </a:solidFill>
              </a:rPr>
              <a:t>Seating 100 guests by hand for three days</a:t>
            </a:r>
            <a:endParaRPr lang="en-US" sz="3000" dirty="0"/>
          </a:p>
        </p:txBody>
      </p:sp>
      <p:sp>
        <p:nvSpPr>
          <p:cNvPr id="7" name="card-87"/>
          <p:cNvSpPr/>
          <p:nvPr/>
        </p:nvSpPr>
        <p:spPr>
          <a:xfrm>
            <a:off x="1097280" y="3749040"/>
            <a:ext cx="2926080" cy="2240280"/>
          </a:xfrm>
          <a:prstGeom prst="roundRect">
            <a:avLst>
              <a:gd name="adj" fmla="val 4898"/>
            </a:avLst>
          </a:prstGeom>
          <a:solidFill>
            <a:schemeClr val="bg2"/>
          </a:solidFill>
          <a:ln w="12700">
            <a:solidFill>
              <a:schemeClr val="bg2"/>
            </a:solidFill>
            <a:prstDash val="solid"/>
          </a:ln>
        </p:spPr>
      </p:sp>
      <p:sp>
        <p:nvSpPr>
          <p:cNvPr id="8" name="text-88"/>
          <p:cNvSpPr txBox="1"/>
          <p:nvPr/>
        </p:nvSpPr>
        <p:spPr>
          <a:xfrm>
            <a:off x="1097280" y="3749040"/>
            <a:ext cx="2926080" cy="2240280"/>
          </a:xfrm>
          <a:prstGeom prst="rect">
            <a:avLst/>
          </a:prstGeom>
          <a:noFill/>
          <a:ln/>
        </p:spPr>
        <p:txBody>
          <a:bodyPr wrap="square" lIns="0" tIns="0" rIns="0" bIns="0" rtlCol="0" anchor="ctr"/>
          <a:lstStyle/>
          <a:p>
            <a:pPr algn="ctr" indent="0" marL="0">
              <a:buNone/>
            </a:pPr>
            <a:r>
              <a:rPr lang="en-US" sz="11000" dirty="0">
                <a:solidFill>
                  <a:srgbClr val="000000"/>
                </a:solidFill>
                <a:latin typeface="Segoe UI Emoji" pitchFamily="34" charset="0"/>
                <a:ea typeface="Segoe UI Emoji" pitchFamily="34" charset="-122"/>
                <a:cs typeface="Segoe UI Emoji" pitchFamily="34" charset="-120"/>
              </a:rPr>
              <a:t>😎</a:t>
            </a:r>
            <a:endParaRPr lang="en-US" sz="11000" dirty="0"/>
          </a:p>
        </p:txBody>
      </p:sp>
      <p:sp>
        <p:nvSpPr>
          <p:cNvPr id="9" name="card-89"/>
          <p:cNvSpPr/>
          <p:nvPr/>
        </p:nvSpPr>
        <p:spPr>
          <a:xfrm>
            <a:off x="4206240" y="3749040"/>
            <a:ext cx="6858000" cy="2240280"/>
          </a:xfrm>
          <a:prstGeom prst="roundRect">
            <a:avLst>
              <a:gd name="adj" fmla="val 4898"/>
            </a:avLst>
          </a:prstGeom>
          <a:solidFill>
            <a:schemeClr val="bg1"/>
          </a:solidFill>
          <a:ln w="19050">
            <a:solidFill>
              <a:srgbClr val="E5DADD"/>
            </a:solidFill>
            <a:prstDash val="solid"/>
          </a:ln>
        </p:spPr>
      </p:sp>
      <p:sp>
        <p:nvSpPr>
          <p:cNvPr id="10" name="text-90"/>
          <p:cNvSpPr txBox="1"/>
          <p:nvPr/>
        </p:nvSpPr>
        <p:spPr>
          <a:xfrm>
            <a:off x="4572000" y="3749040"/>
            <a:ext cx="6217920" cy="2240280"/>
          </a:xfrm>
          <a:prstGeom prst="rect">
            <a:avLst/>
          </a:prstGeom>
          <a:noFill/>
          <a:ln/>
        </p:spPr>
        <p:txBody>
          <a:bodyPr wrap="square" lIns="0" tIns="0" rIns="0" bIns="0" rtlCol="0" anchor="ctr"/>
          <a:lstStyle/>
          <a:p>
            <a:pPr indent="0" marL="0">
              <a:buNone/>
            </a:pPr>
            <a:r>
              <a:rPr lang="en-US" sz="3000" b="1" dirty="0">
                <a:solidFill>
                  <a:schemeClr val="tx1"/>
                </a:solidFill>
              </a:rPr>
              <a:t>Letting a Genetic Algorithm do it in 6 seconds</a:t>
            </a:r>
            <a:endParaRPr lang="en-US" sz="30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The Genetic Algorithm in one picture</a:t>
            </a:r>
            <a:endParaRPr lang="en-US" sz="3600" dirty="0"/>
          </a:p>
        </p:txBody>
      </p:sp>
      <p:sp>
        <p:nvSpPr>
          <p:cNvPr id="3" name="card-91"/>
          <p:cNvSpPr/>
          <p:nvPr/>
        </p:nvSpPr>
        <p:spPr>
          <a:xfrm>
            <a:off x="548640" y="1463040"/>
            <a:ext cx="1828800" cy="2651760"/>
          </a:xfrm>
          <a:prstGeom prst="roundRect">
            <a:avLst>
              <a:gd name="adj" fmla="val 6000"/>
            </a:avLst>
          </a:prstGeom>
          <a:solidFill>
            <a:schemeClr val="bg2"/>
          </a:solidFill>
          <a:ln w="12700">
            <a:solidFill>
              <a:schemeClr val="bg2"/>
            </a:solidFill>
            <a:prstDash val="solid"/>
          </a:ln>
        </p:spPr>
      </p:sp>
      <p:sp>
        <p:nvSpPr>
          <p:cNvPr id="4" name="emoji-92"/>
          <p:cNvSpPr txBox="1"/>
          <p:nvPr/>
        </p:nvSpPr>
        <p:spPr>
          <a:xfrm>
            <a:off x="1051560" y="1691640"/>
            <a:ext cx="822960" cy="8229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900" dirty="0">
                <a:solidFill>
                  <a:srgbClr val="000000"/>
                </a:solidFill>
                <a:latin typeface="Segoe UI Emoji" pitchFamily="34" charset="0"/>
                <a:ea typeface="Segoe UI Emoji" pitchFamily="34" charset="-122"/>
                <a:cs typeface="Segoe UI Emoji" pitchFamily="34" charset="-120"/>
              </a:rPr>
              <a:t>👪</a:t>
            </a:r>
            <a:endParaRPr lang="en-US" sz="2900" dirty="0"/>
          </a:p>
        </p:txBody>
      </p:sp>
      <p:sp>
        <p:nvSpPr>
          <p:cNvPr id="5" name="text-93"/>
          <p:cNvSpPr txBox="1"/>
          <p:nvPr/>
        </p:nvSpPr>
        <p:spPr>
          <a:xfrm>
            <a:off x="640080" y="2651760"/>
            <a:ext cx="1645920" cy="411480"/>
          </a:xfrm>
          <a:prstGeom prst="rect">
            <a:avLst/>
          </a:prstGeom>
          <a:noFill/>
          <a:ln/>
        </p:spPr>
        <p:txBody>
          <a:bodyPr wrap="square" lIns="0" tIns="0" rIns="0" bIns="0" rtlCol="0" anchor="t"/>
          <a:lstStyle/>
          <a:p>
            <a:pPr algn="ctr" indent="0" marL="0">
              <a:buNone/>
            </a:pPr>
            <a:r>
              <a:rPr lang="en-US" sz="1800" b="1" dirty="0">
                <a:solidFill>
                  <a:schemeClr val="tx1"/>
                </a:solidFill>
              </a:rPr>
              <a:t>1. Population</a:t>
            </a:r>
            <a:endParaRPr lang="en-US" sz="1800" dirty="0"/>
          </a:p>
        </p:txBody>
      </p:sp>
      <p:sp>
        <p:nvSpPr>
          <p:cNvPr id="6" name="text-94"/>
          <p:cNvSpPr txBox="1"/>
          <p:nvPr/>
        </p:nvSpPr>
        <p:spPr>
          <a:xfrm>
            <a:off x="685800" y="3108960"/>
            <a:ext cx="1554480" cy="868680"/>
          </a:xfrm>
          <a:prstGeom prst="rect">
            <a:avLst/>
          </a:prstGeom>
          <a:noFill/>
          <a:ln/>
        </p:spPr>
        <p:txBody>
          <a:bodyPr wrap="square" lIns="0" tIns="0" rIns="0" bIns="0" rtlCol="0" anchor="t"/>
          <a:lstStyle/>
          <a:p>
            <a:pPr algn="ctr" indent="0" marL="0">
              <a:buNone/>
            </a:pPr>
            <a:r>
              <a:rPr lang="en-US" sz="1400" dirty="0">
                <a:solidFill>
                  <a:schemeClr val="tx1"/>
                </a:solidFill>
              </a:rPr>
              <a:t>100 random seating plans</a:t>
            </a:r>
            <a:endParaRPr lang="en-US" sz="1400" dirty="0"/>
          </a:p>
        </p:txBody>
      </p:sp>
      <p:sp>
        <p:nvSpPr>
          <p:cNvPr id="7" name="arrow-95"/>
          <p:cNvSpPr/>
          <p:nvPr/>
        </p:nvSpPr>
        <p:spPr>
          <a:xfrm>
            <a:off x="2441448" y="2788920"/>
            <a:ext cx="352044" cy="0"/>
          </a:xfrm>
          <a:prstGeom prst="line">
            <a:avLst/>
          </a:prstGeom>
          <a:noFill/>
          <a:ln w="31750">
            <a:solidFill>
              <a:schemeClr val="accent6"/>
            </a:solidFill>
            <a:prstDash val="solid"/>
            <a:tailEnd type="triangle"/>
          </a:ln>
        </p:spPr>
      </p:sp>
      <p:sp>
        <p:nvSpPr>
          <p:cNvPr id="8" name="card-96"/>
          <p:cNvSpPr/>
          <p:nvPr/>
        </p:nvSpPr>
        <p:spPr>
          <a:xfrm>
            <a:off x="2857500" y="1463040"/>
            <a:ext cx="1828800" cy="2651760"/>
          </a:xfrm>
          <a:prstGeom prst="roundRect">
            <a:avLst>
              <a:gd name="adj" fmla="val 6000"/>
            </a:avLst>
          </a:prstGeom>
          <a:solidFill>
            <a:schemeClr val="bg2"/>
          </a:solidFill>
          <a:ln w="12700">
            <a:solidFill>
              <a:schemeClr val="bg2"/>
            </a:solidFill>
            <a:prstDash val="solid"/>
          </a:ln>
        </p:spPr>
      </p:sp>
      <p:sp>
        <p:nvSpPr>
          <p:cNvPr id="9" name="emoji-97"/>
          <p:cNvSpPr txBox="1"/>
          <p:nvPr/>
        </p:nvSpPr>
        <p:spPr>
          <a:xfrm>
            <a:off x="3360420" y="1691640"/>
            <a:ext cx="822960" cy="8229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900" dirty="0">
                <a:solidFill>
                  <a:srgbClr val="000000"/>
                </a:solidFill>
                <a:latin typeface="Segoe UI Emoji" pitchFamily="34" charset="0"/>
                <a:ea typeface="Segoe UI Emoji" pitchFamily="34" charset="-122"/>
                <a:cs typeface="Segoe UI Emoji" pitchFamily="34" charset="-120"/>
              </a:rPr>
              <a:t>😊</a:t>
            </a:r>
            <a:endParaRPr lang="en-US" sz="2900" dirty="0"/>
          </a:p>
        </p:txBody>
      </p:sp>
      <p:sp>
        <p:nvSpPr>
          <p:cNvPr id="10" name="text-98"/>
          <p:cNvSpPr txBox="1"/>
          <p:nvPr/>
        </p:nvSpPr>
        <p:spPr>
          <a:xfrm>
            <a:off x="2948940" y="2651760"/>
            <a:ext cx="1645920" cy="411480"/>
          </a:xfrm>
          <a:prstGeom prst="rect">
            <a:avLst/>
          </a:prstGeom>
          <a:noFill/>
          <a:ln/>
        </p:spPr>
        <p:txBody>
          <a:bodyPr wrap="square" lIns="0" tIns="0" rIns="0" bIns="0" rtlCol="0" anchor="t"/>
          <a:lstStyle/>
          <a:p>
            <a:pPr algn="ctr" indent="0" marL="0">
              <a:buNone/>
            </a:pPr>
            <a:r>
              <a:rPr lang="en-US" sz="1800" b="1" dirty="0">
                <a:solidFill>
                  <a:schemeClr val="tx1"/>
                </a:solidFill>
              </a:rPr>
              <a:t>2. Fitness</a:t>
            </a:r>
            <a:endParaRPr lang="en-US" sz="1800" dirty="0"/>
          </a:p>
        </p:txBody>
      </p:sp>
      <p:sp>
        <p:nvSpPr>
          <p:cNvPr id="11" name="text-99"/>
          <p:cNvSpPr txBox="1"/>
          <p:nvPr/>
        </p:nvSpPr>
        <p:spPr>
          <a:xfrm>
            <a:off x="2994660" y="3108960"/>
            <a:ext cx="1554480" cy="868680"/>
          </a:xfrm>
          <a:prstGeom prst="rect">
            <a:avLst/>
          </a:prstGeom>
          <a:noFill/>
          <a:ln/>
        </p:spPr>
        <p:txBody>
          <a:bodyPr wrap="square" lIns="0" tIns="0" rIns="0" bIns="0" rtlCol="0" anchor="t"/>
          <a:lstStyle/>
          <a:p>
            <a:pPr algn="ctr" indent="0" marL="0">
              <a:buNone/>
            </a:pPr>
            <a:r>
              <a:rPr lang="en-US" sz="1400" dirty="0">
                <a:solidFill>
                  <a:schemeClr val="tx1"/>
                </a:solidFill>
              </a:rPr>
              <a:t>Score the happiness of every plan</a:t>
            </a:r>
            <a:endParaRPr lang="en-US" sz="1400" dirty="0"/>
          </a:p>
        </p:txBody>
      </p:sp>
      <p:sp>
        <p:nvSpPr>
          <p:cNvPr id="12" name="arrow-100"/>
          <p:cNvSpPr/>
          <p:nvPr/>
        </p:nvSpPr>
        <p:spPr>
          <a:xfrm>
            <a:off x="4750308" y="2788920"/>
            <a:ext cx="352044" cy="0"/>
          </a:xfrm>
          <a:prstGeom prst="line">
            <a:avLst/>
          </a:prstGeom>
          <a:noFill/>
          <a:ln w="31750">
            <a:solidFill>
              <a:schemeClr val="accent6"/>
            </a:solidFill>
            <a:prstDash val="solid"/>
            <a:tailEnd type="triangle"/>
          </a:ln>
        </p:spPr>
      </p:sp>
      <p:sp>
        <p:nvSpPr>
          <p:cNvPr id="13" name="card-101"/>
          <p:cNvSpPr/>
          <p:nvPr/>
        </p:nvSpPr>
        <p:spPr>
          <a:xfrm>
            <a:off x="5166360" y="1463040"/>
            <a:ext cx="1828800" cy="2651760"/>
          </a:xfrm>
          <a:prstGeom prst="roundRect">
            <a:avLst>
              <a:gd name="adj" fmla="val 6000"/>
            </a:avLst>
          </a:prstGeom>
          <a:solidFill>
            <a:schemeClr val="bg2"/>
          </a:solidFill>
          <a:ln w="12700">
            <a:solidFill>
              <a:schemeClr val="bg2"/>
            </a:solidFill>
            <a:prstDash val="solid"/>
          </a:ln>
        </p:spPr>
      </p:sp>
      <p:sp>
        <p:nvSpPr>
          <p:cNvPr id="14" name="emoji-102"/>
          <p:cNvSpPr txBox="1"/>
          <p:nvPr/>
        </p:nvSpPr>
        <p:spPr>
          <a:xfrm>
            <a:off x="5669280" y="1691640"/>
            <a:ext cx="822960" cy="8229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900" dirty="0">
                <a:solidFill>
                  <a:srgbClr val="000000"/>
                </a:solidFill>
                <a:latin typeface="Segoe UI Emoji" pitchFamily="34" charset="0"/>
                <a:ea typeface="Segoe UI Emoji" pitchFamily="34" charset="-122"/>
                <a:cs typeface="Segoe UI Emoji" pitchFamily="34" charset="-120"/>
              </a:rPr>
              <a:t>🏆</a:t>
            </a:r>
            <a:endParaRPr lang="en-US" sz="2900" dirty="0"/>
          </a:p>
        </p:txBody>
      </p:sp>
      <p:sp>
        <p:nvSpPr>
          <p:cNvPr id="15" name="text-103"/>
          <p:cNvSpPr txBox="1"/>
          <p:nvPr/>
        </p:nvSpPr>
        <p:spPr>
          <a:xfrm>
            <a:off x="5257800" y="2651760"/>
            <a:ext cx="1645920" cy="411480"/>
          </a:xfrm>
          <a:prstGeom prst="rect">
            <a:avLst/>
          </a:prstGeom>
          <a:noFill/>
          <a:ln/>
        </p:spPr>
        <p:txBody>
          <a:bodyPr wrap="square" lIns="0" tIns="0" rIns="0" bIns="0" rtlCol="0" anchor="t"/>
          <a:lstStyle/>
          <a:p>
            <a:pPr algn="ctr" indent="0" marL="0">
              <a:buNone/>
            </a:pPr>
            <a:r>
              <a:rPr lang="en-US" sz="1800" b="1" dirty="0">
                <a:solidFill>
                  <a:schemeClr val="tx1"/>
                </a:solidFill>
              </a:rPr>
              <a:t>3. Selection</a:t>
            </a:r>
            <a:endParaRPr lang="en-US" sz="1800" dirty="0"/>
          </a:p>
        </p:txBody>
      </p:sp>
      <p:sp>
        <p:nvSpPr>
          <p:cNvPr id="16" name="text-104"/>
          <p:cNvSpPr txBox="1"/>
          <p:nvPr/>
        </p:nvSpPr>
        <p:spPr>
          <a:xfrm>
            <a:off x="5303520" y="3108960"/>
            <a:ext cx="1554480" cy="868680"/>
          </a:xfrm>
          <a:prstGeom prst="rect">
            <a:avLst/>
          </a:prstGeom>
          <a:noFill/>
          <a:ln/>
        </p:spPr>
        <p:txBody>
          <a:bodyPr wrap="square" lIns="0" tIns="0" rIns="0" bIns="0" rtlCol="0" anchor="t"/>
          <a:lstStyle/>
          <a:p>
            <a:pPr algn="ctr" indent="0" marL="0">
              <a:buNone/>
            </a:pPr>
            <a:r>
              <a:rPr lang="en-US" sz="1400" dirty="0">
                <a:solidFill>
                  <a:schemeClr val="tx1"/>
                </a:solidFill>
              </a:rPr>
              <a:t>Tournament: best of 3 random plans</a:t>
            </a:r>
            <a:endParaRPr lang="en-US" sz="1400" dirty="0"/>
          </a:p>
        </p:txBody>
      </p:sp>
      <p:sp>
        <p:nvSpPr>
          <p:cNvPr id="17" name="arrow-105"/>
          <p:cNvSpPr/>
          <p:nvPr/>
        </p:nvSpPr>
        <p:spPr>
          <a:xfrm>
            <a:off x="7059168" y="2788920"/>
            <a:ext cx="352044" cy="0"/>
          </a:xfrm>
          <a:prstGeom prst="line">
            <a:avLst/>
          </a:prstGeom>
          <a:noFill/>
          <a:ln w="31750">
            <a:solidFill>
              <a:schemeClr val="accent6"/>
            </a:solidFill>
            <a:prstDash val="solid"/>
            <a:tailEnd type="triangle"/>
          </a:ln>
        </p:spPr>
      </p:sp>
      <p:sp>
        <p:nvSpPr>
          <p:cNvPr id="18" name="card-106"/>
          <p:cNvSpPr/>
          <p:nvPr/>
        </p:nvSpPr>
        <p:spPr>
          <a:xfrm>
            <a:off x="7475220" y="1463040"/>
            <a:ext cx="1828800" cy="2651760"/>
          </a:xfrm>
          <a:prstGeom prst="roundRect">
            <a:avLst>
              <a:gd name="adj" fmla="val 6000"/>
            </a:avLst>
          </a:prstGeom>
          <a:solidFill>
            <a:schemeClr val="bg2"/>
          </a:solidFill>
          <a:ln w="12700">
            <a:solidFill>
              <a:schemeClr val="bg2"/>
            </a:solidFill>
            <a:prstDash val="solid"/>
          </a:ln>
        </p:spPr>
      </p:sp>
      <p:sp>
        <p:nvSpPr>
          <p:cNvPr id="19" name="emoji-107"/>
          <p:cNvSpPr txBox="1"/>
          <p:nvPr/>
        </p:nvSpPr>
        <p:spPr>
          <a:xfrm>
            <a:off x="7978140" y="1691640"/>
            <a:ext cx="822960" cy="8229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900" dirty="0">
                <a:solidFill>
                  <a:srgbClr val="000000"/>
                </a:solidFill>
                <a:latin typeface="Segoe UI Emoji" pitchFamily="34" charset="0"/>
                <a:ea typeface="Segoe UI Emoji" pitchFamily="34" charset="-122"/>
                <a:cs typeface="Segoe UI Emoji" pitchFamily="34" charset="-120"/>
              </a:rPr>
              <a:t>💞</a:t>
            </a:r>
            <a:endParaRPr lang="en-US" sz="2900" dirty="0"/>
          </a:p>
        </p:txBody>
      </p:sp>
      <p:sp>
        <p:nvSpPr>
          <p:cNvPr id="20" name="text-108"/>
          <p:cNvSpPr txBox="1"/>
          <p:nvPr/>
        </p:nvSpPr>
        <p:spPr>
          <a:xfrm>
            <a:off x="7566660" y="2651760"/>
            <a:ext cx="1645920" cy="411480"/>
          </a:xfrm>
          <a:prstGeom prst="rect">
            <a:avLst/>
          </a:prstGeom>
          <a:noFill/>
          <a:ln/>
        </p:spPr>
        <p:txBody>
          <a:bodyPr wrap="square" lIns="0" tIns="0" rIns="0" bIns="0" rtlCol="0" anchor="t"/>
          <a:lstStyle/>
          <a:p>
            <a:pPr algn="ctr" indent="0" marL="0">
              <a:buNone/>
            </a:pPr>
            <a:r>
              <a:rPr lang="en-US" sz="1800" b="1" dirty="0">
                <a:solidFill>
                  <a:schemeClr val="tx1"/>
                </a:solidFill>
              </a:rPr>
              <a:t>4. Crossover</a:t>
            </a:r>
            <a:endParaRPr lang="en-US" sz="1800" dirty="0"/>
          </a:p>
        </p:txBody>
      </p:sp>
      <p:sp>
        <p:nvSpPr>
          <p:cNvPr id="21" name="text-109"/>
          <p:cNvSpPr txBox="1"/>
          <p:nvPr/>
        </p:nvSpPr>
        <p:spPr>
          <a:xfrm>
            <a:off x="7612380" y="3108960"/>
            <a:ext cx="1554480" cy="868680"/>
          </a:xfrm>
          <a:prstGeom prst="rect">
            <a:avLst/>
          </a:prstGeom>
          <a:noFill/>
          <a:ln/>
        </p:spPr>
        <p:txBody>
          <a:bodyPr wrap="square" lIns="0" tIns="0" rIns="0" bIns="0" rtlCol="0" anchor="t"/>
          <a:lstStyle/>
          <a:p>
            <a:pPr algn="ctr" indent="0" marL="0">
              <a:buNone/>
            </a:pPr>
            <a:r>
              <a:rPr lang="en-US" sz="1400" dirty="0">
                <a:solidFill>
                  <a:schemeClr val="tx1"/>
                </a:solidFill>
              </a:rPr>
              <a:t>Mix two parent plans into a child</a:t>
            </a:r>
            <a:endParaRPr lang="en-US" sz="1400" dirty="0"/>
          </a:p>
        </p:txBody>
      </p:sp>
      <p:sp>
        <p:nvSpPr>
          <p:cNvPr id="22" name="arrow-110"/>
          <p:cNvSpPr/>
          <p:nvPr/>
        </p:nvSpPr>
        <p:spPr>
          <a:xfrm>
            <a:off x="9368028" y="2788920"/>
            <a:ext cx="352044" cy="0"/>
          </a:xfrm>
          <a:prstGeom prst="line">
            <a:avLst/>
          </a:prstGeom>
          <a:noFill/>
          <a:ln w="31750">
            <a:solidFill>
              <a:schemeClr val="accent6"/>
            </a:solidFill>
            <a:prstDash val="solid"/>
            <a:tailEnd type="triangle"/>
          </a:ln>
        </p:spPr>
      </p:sp>
      <p:sp>
        <p:nvSpPr>
          <p:cNvPr id="23" name="card-111"/>
          <p:cNvSpPr/>
          <p:nvPr/>
        </p:nvSpPr>
        <p:spPr>
          <a:xfrm>
            <a:off x="9784080" y="1463040"/>
            <a:ext cx="1828800" cy="2651760"/>
          </a:xfrm>
          <a:prstGeom prst="roundRect">
            <a:avLst>
              <a:gd name="adj" fmla="val 6000"/>
            </a:avLst>
          </a:prstGeom>
          <a:solidFill>
            <a:schemeClr val="bg2"/>
          </a:solidFill>
          <a:ln w="12700">
            <a:solidFill>
              <a:schemeClr val="bg2"/>
            </a:solidFill>
            <a:prstDash val="solid"/>
          </a:ln>
        </p:spPr>
      </p:sp>
      <p:sp>
        <p:nvSpPr>
          <p:cNvPr id="24" name="emoji-112"/>
          <p:cNvSpPr txBox="1"/>
          <p:nvPr/>
        </p:nvSpPr>
        <p:spPr>
          <a:xfrm>
            <a:off x="10287000" y="1691640"/>
            <a:ext cx="822960" cy="8229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900" dirty="0">
                <a:solidFill>
                  <a:srgbClr val="000000"/>
                </a:solidFill>
                <a:latin typeface="Segoe UI Emoji" pitchFamily="34" charset="0"/>
                <a:ea typeface="Segoe UI Emoji" pitchFamily="34" charset="-122"/>
                <a:cs typeface="Segoe UI Emoji" pitchFamily="34" charset="-120"/>
              </a:rPr>
              <a:t>🎲</a:t>
            </a:r>
            <a:endParaRPr lang="en-US" sz="2900" dirty="0"/>
          </a:p>
        </p:txBody>
      </p:sp>
      <p:sp>
        <p:nvSpPr>
          <p:cNvPr id="25" name="text-113"/>
          <p:cNvSpPr txBox="1"/>
          <p:nvPr/>
        </p:nvSpPr>
        <p:spPr>
          <a:xfrm>
            <a:off x="9875520" y="2651760"/>
            <a:ext cx="1645920" cy="411480"/>
          </a:xfrm>
          <a:prstGeom prst="rect">
            <a:avLst/>
          </a:prstGeom>
          <a:noFill/>
          <a:ln/>
        </p:spPr>
        <p:txBody>
          <a:bodyPr wrap="square" lIns="0" tIns="0" rIns="0" bIns="0" rtlCol="0" anchor="t"/>
          <a:lstStyle/>
          <a:p>
            <a:pPr algn="ctr" indent="0" marL="0">
              <a:buNone/>
            </a:pPr>
            <a:r>
              <a:rPr lang="en-US" sz="1800" b="1" dirty="0">
                <a:solidFill>
                  <a:schemeClr val="tx1"/>
                </a:solidFill>
              </a:rPr>
              <a:t>5. Mutation</a:t>
            </a:r>
            <a:endParaRPr lang="en-US" sz="1800" dirty="0"/>
          </a:p>
        </p:txBody>
      </p:sp>
      <p:sp>
        <p:nvSpPr>
          <p:cNvPr id="26" name="text-114"/>
          <p:cNvSpPr txBox="1"/>
          <p:nvPr/>
        </p:nvSpPr>
        <p:spPr>
          <a:xfrm>
            <a:off x="9921240" y="3108960"/>
            <a:ext cx="1554480" cy="868680"/>
          </a:xfrm>
          <a:prstGeom prst="rect">
            <a:avLst/>
          </a:prstGeom>
          <a:noFill/>
          <a:ln/>
        </p:spPr>
        <p:txBody>
          <a:bodyPr wrap="square" lIns="0" tIns="0" rIns="0" bIns="0" rtlCol="0" anchor="t"/>
          <a:lstStyle/>
          <a:p>
            <a:pPr algn="ctr" indent="0" marL="0">
              <a:buNone/>
            </a:pPr>
            <a:r>
              <a:rPr lang="en-US" sz="1400" dirty="0">
                <a:solidFill>
                  <a:schemeClr val="tx1"/>
                </a:solidFill>
              </a:rPr>
              <a:t>Swap two random guests</a:t>
            </a:r>
            <a:endParaRPr lang="en-US" sz="1400" dirty="0"/>
          </a:p>
        </p:txBody>
      </p:sp>
      <p:sp>
        <p:nvSpPr>
          <p:cNvPr id="27" name="arrow-115"/>
          <p:cNvSpPr/>
          <p:nvPr/>
        </p:nvSpPr>
        <p:spPr>
          <a:xfrm>
            <a:off x="10698480" y="4114800"/>
            <a:ext cx="0" cy="640080"/>
          </a:xfrm>
          <a:prstGeom prst="line">
            <a:avLst/>
          </a:prstGeom>
          <a:noFill/>
          <a:ln w="31750">
            <a:solidFill>
              <a:schemeClr val="accent1"/>
            </a:solidFill>
            <a:prstDash val="solid"/>
          </a:ln>
        </p:spPr>
      </p:sp>
      <p:sp>
        <p:nvSpPr>
          <p:cNvPr id="28" name="arrow-116"/>
          <p:cNvSpPr/>
          <p:nvPr/>
        </p:nvSpPr>
        <p:spPr>
          <a:xfrm>
            <a:off x="3771900" y="4754880"/>
            <a:ext cx="6926580" cy="0"/>
          </a:xfrm>
          <a:prstGeom prst="line">
            <a:avLst/>
          </a:prstGeom>
          <a:noFill/>
          <a:ln w="31750">
            <a:solidFill>
              <a:schemeClr val="accent1"/>
            </a:solidFill>
            <a:prstDash val="solid"/>
          </a:ln>
        </p:spPr>
      </p:sp>
      <p:sp>
        <p:nvSpPr>
          <p:cNvPr id="29" name="arrow-117"/>
          <p:cNvSpPr/>
          <p:nvPr/>
        </p:nvSpPr>
        <p:spPr>
          <a:xfrm flipV="1">
            <a:off x="3771900" y="4114800"/>
            <a:ext cx="0" cy="640080"/>
          </a:xfrm>
          <a:prstGeom prst="line">
            <a:avLst/>
          </a:prstGeom>
          <a:noFill/>
          <a:ln w="31750">
            <a:solidFill>
              <a:schemeClr val="accent1"/>
            </a:solidFill>
            <a:prstDash val="solid"/>
            <a:tailEnd type="triangle"/>
          </a:ln>
        </p:spPr>
      </p:sp>
      <p:sp>
        <p:nvSpPr>
          <p:cNvPr id="30" name="text-118"/>
          <p:cNvSpPr txBox="1"/>
          <p:nvPr/>
        </p:nvSpPr>
        <p:spPr>
          <a:xfrm>
            <a:off x="3771900" y="4892040"/>
            <a:ext cx="6926580" cy="457200"/>
          </a:xfrm>
          <a:prstGeom prst="rect">
            <a:avLst/>
          </a:prstGeom>
          <a:noFill/>
          <a:ln/>
        </p:spPr>
        <p:txBody>
          <a:bodyPr wrap="square" lIns="0" tIns="0" rIns="0" bIns="0" rtlCol="0" anchor="t"/>
          <a:lstStyle/>
          <a:p>
            <a:pPr algn="ctr" indent="0" marL="0">
              <a:buNone/>
            </a:pPr>
            <a:r>
              <a:rPr lang="en-US" sz="1800" b="1" dirty="0">
                <a:solidFill>
                  <a:schemeClr val="tx2"/>
                </a:solidFill>
              </a:rPr>
              <a:t>🔁 Repeat for 1000 generations, then return the happiest plan 🎉</a:t>
            </a:r>
            <a:endParaRPr lang="en-US" sz="1800" dirty="0"/>
          </a:p>
        </p:txBody>
      </p:sp>
      <p:sp>
        <p:nvSpPr>
          <p:cNvPr id="31" name="text-119"/>
          <p:cNvSpPr txBox="1"/>
          <p:nvPr/>
        </p:nvSpPr>
        <p:spPr>
          <a:xfrm>
            <a:off x="548640" y="5623560"/>
            <a:ext cx="11064240" cy="411480"/>
          </a:xfrm>
          <a:prstGeom prst="rect">
            <a:avLst/>
          </a:prstGeom>
          <a:noFill/>
          <a:ln/>
        </p:spPr>
        <p:txBody>
          <a:bodyPr wrap="square" lIns="0" tIns="0" rIns="0" bIns="0" rtlCol="0" anchor="t"/>
          <a:lstStyle/>
          <a:p>
            <a:pPr indent="0" marL="0">
              <a:buNone/>
            </a:pPr>
            <a:r>
              <a:rPr lang="en-US" sz="1500" i="1" dirty="0">
                <a:solidFill>
                  <a:schemeClr val="accent6"/>
                </a:solidFill>
              </a:rPr>
              <a:t>Like natural selection: happy plans survive and have children, unhappy plans die out.</a:t>
            </a:r>
            <a:endParaRPr lang="en-US" sz="15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How the computer sees a seating plan</a:t>
            </a:r>
            <a:endParaRPr lang="en-US" sz="3600" dirty="0"/>
          </a:p>
        </p:txBody>
      </p:sp>
      <p:sp>
        <p:nvSpPr>
          <p:cNvPr id="3" name="seat-120"/>
          <p:cNvSpPr txBox="1"/>
          <p:nvPr/>
        </p:nvSpPr>
        <p:spPr>
          <a:xfrm>
            <a:off x="548640" y="1965960"/>
            <a:ext cx="457200" cy="457200"/>
          </a:xfrm>
          <a:prstGeom prst="roundRect">
            <a:avLst>
              <a:gd name="adj" fmla="val 12000"/>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12</a:t>
            </a:r>
            <a:endParaRPr lang="en-US" sz="1500" dirty="0"/>
          </a:p>
        </p:txBody>
      </p:sp>
      <p:sp>
        <p:nvSpPr>
          <p:cNvPr id="4" name="seat-121"/>
          <p:cNvSpPr txBox="1"/>
          <p:nvPr/>
        </p:nvSpPr>
        <p:spPr>
          <a:xfrm>
            <a:off x="1060704" y="1965960"/>
            <a:ext cx="457200" cy="457200"/>
          </a:xfrm>
          <a:prstGeom prst="roundRect">
            <a:avLst>
              <a:gd name="adj" fmla="val 12000"/>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57</a:t>
            </a:r>
            <a:endParaRPr lang="en-US" sz="1500" dirty="0"/>
          </a:p>
        </p:txBody>
      </p:sp>
      <p:sp>
        <p:nvSpPr>
          <p:cNvPr id="5" name="seat-122"/>
          <p:cNvSpPr txBox="1"/>
          <p:nvPr/>
        </p:nvSpPr>
        <p:spPr>
          <a:xfrm>
            <a:off x="1572768" y="1965960"/>
            <a:ext cx="457200" cy="457200"/>
          </a:xfrm>
          <a:prstGeom prst="roundRect">
            <a:avLst>
              <a:gd name="adj" fmla="val 12000"/>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6" name="seat-123"/>
          <p:cNvSpPr txBox="1"/>
          <p:nvPr/>
        </p:nvSpPr>
        <p:spPr>
          <a:xfrm>
            <a:off x="2084832" y="1965960"/>
            <a:ext cx="457200" cy="457200"/>
          </a:xfrm>
          <a:prstGeom prst="roundRect">
            <a:avLst>
              <a:gd name="adj" fmla="val 12000"/>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88</a:t>
            </a:r>
            <a:endParaRPr lang="en-US" sz="1500" dirty="0"/>
          </a:p>
        </p:txBody>
      </p:sp>
      <p:sp>
        <p:nvSpPr>
          <p:cNvPr id="7" name="seat-124"/>
          <p:cNvSpPr txBox="1"/>
          <p:nvPr/>
        </p:nvSpPr>
        <p:spPr>
          <a:xfrm>
            <a:off x="2596896" y="1965960"/>
            <a:ext cx="457200" cy="457200"/>
          </a:xfrm>
          <a:prstGeom prst="roundRect">
            <a:avLst>
              <a:gd name="adj" fmla="val 12000"/>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41</a:t>
            </a:r>
            <a:endParaRPr lang="en-US" sz="1500" dirty="0"/>
          </a:p>
        </p:txBody>
      </p:sp>
      <p:sp>
        <p:nvSpPr>
          <p:cNvPr id="8" name="seat-125"/>
          <p:cNvSpPr txBox="1"/>
          <p:nvPr/>
        </p:nvSpPr>
        <p:spPr>
          <a:xfrm>
            <a:off x="3108960" y="1965960"/>
            <a:ext cx="457200" cy="457200"/>
          </a:xfrm>
          <a:prstGeom prst="roundRect">
            <a:avLst>
              <a:gd name="adj" fmla="val 12000"/>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70</a:t>
            </a:r>
            <a:endParaRPr lang="en-US" sz="1500" dirty="0"/>
          </a:p>
        </p:txBody>
      </p:sp>
      <p:sp>
        <p:nvSpPr>
          <p:cNvPr id="9" name="seat-126"/>
          <p:cNvSpPr txBox="1"/>
          <p:nvPr/>
        </p:nvSpPr>
        <p:spPr>
          <a:xfrm>
            <a:off x="3621024" y="1965960"/>
            <a:ext cx="457200" cy="457200"/>
          </a:xfrm>
          <a:prstGeom prst="roundRect">
            <a:avLst>
              <a:gd name="adj" fmla="val 12000"/>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25</a:t>
            </a:r>
            <a:endParaRPr lang="en-US" sz="1500" dirty="0"/>
          </a:p>
        </p:txBody>
      </p:sp>
      <p:sp>
        <p:nvSpPr>
          <p:cNvPr id="10" name="seat-127"/>
          <p:cNvSpPr txBox="1"/>
          <p:nvPr/>
        </p:nvSpPr>
        <p:spPr>
          <a:xfrm>
            <a:off x="4133088" y="1965960"/>
            <a:ext cx="457200" cy="457200"/>
          </a:xfrm>
          <a:prstGeom prst="roundRect">
            <a:avLst>
              <a:gd name="adj" fmla="val 12000"/>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9</a:t>
            </a:r>
            <a:endParaRPr lang="en-US" sz="1500" dirty="0"/>
          </a:p>
        </p:txBody>
      </p:sp>
      <p:sp>
        <p:nvSpPr>
          <p:cNvPr id="11" name="seat-128"/>
          <p:cNvSpPr txBox="1"/>
          <p:nvPr/>
        </p:nvSpPr>
        <p:spPr>
          <a:xfrm>
            <a:off x="4645152" y="1965960"/>
            <a:ext cx="457200" cy="457200"/>
          </a:xfrm>
          <a:prstGeom prst="roundRect">
            <a:avLst>
              <a:gd name="adj" fmla="val 12000"/>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64</a:t>
            </a:r>
            <a:endParaRPr lang="en-US" sz="1500" dirty="0"/>
          </a:p>
        </p:txBody>
      </p:sp>
      <p:sp>
        <p:nvSpPr>
          <p:cNvPr id="12" name="seat-129"/>
          <p:cNvSpPr txBox="1"/>
          <p:nvPr/>
        </p:nvSpPr>
        <p:spPr>
          <a:xfrm>
            <a:off x="5157216" y="1965960"/>
            <a:ext cx="457200" cy="457200"/>
          </a:xfrm>
          <a:prstGeom prst="roundRect">
            <a:avLst>
              <a:gd name="adj" fmla="val 12000"/>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33</a:t>
            </a:r>
            <a:endParaRPr lang="en-US" sz="1500" dirty="0"/>
          </a:p>
        </p:txBody>
      </p:sp>
      <p:sp>
        <p:nvSpPr>
          <p:cNvPr id="13" name="seat-130"/>
          <p:cNvSpPr txBox="1"/>
          <p:nvPr/>
        </p:nvSpPr>
        <p:spPr>
          <a:xfrm>
            <a:off x="5852160" y="1965960"/>
            <a:ext cx="457200" cy="457200"/>
          </a:xfrm>
          <a:prstGeom prst="roundRect">
            <a:avLst>
              <a:gd name="adj" fmla="val 12000"/>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91</a:t>
            </a:r>
            <a:endParaRPr lang="en-US" sz="1500" dirty="0"/>
          </a:p>
        </p:txBody>
      </p:sp>
      <p:sp>
        <p:nvSpPr>
          <p:cNvPr id="14" name="seat-131"/>
          <p:cNvSpPr txBox="1"/>
          <p:nvPr/>
        </p:nvSpPr>
        <p:spPr>
          <a:xfrm>
            <a:off x="6364224" y="1965960"/>
            <a:ext cx="457200" cy="457200"/>
          </a:xfrm>
          <a:prstGeom prst="roundRect">
            <a:avLst>
              <a:gd name="adj" fmla="val 12000"/>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18</a:t>
            </a:r>
            <a:endParaRPr lang="en-US" sz="1500" dirty="0"/>
          </a:p>
        </p:txBody>
      </p:sp>
      <p:sp>
        <p:nvSpPr>
          <p:cNvPr id="15" name="seat-132"/>
          <p:cNvSpPr txBox="1"/>
          <p:nvPr/>
        </p:nvSpPr>
        <p:spPr>
          <a:xfrm>
            <a:off x="6876288" y="1965960"/>
            <a:ext cx="457200" cy="457200"/>
          </a:xfrm>
          <a:prstGeom prst="roundRect">
            <a:avLst>
              <a:gd name="adj" fmla="val 12000"/>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46</a:t>
            </a:r>
            <a:endParaRPr lang="en-US" sz="1500" dirty="0"/>
          </a:p>
        </p:txBody>
      </p:sp>
      <p:sp>
        <p:nvSpPr>
          <p:cNvPr id="16" name="seat-133"/>
          <p:cNvSpPr txBox="1"/>
          <p:nvPr/>
        </p:nvSpPr>
        <p:spPr>
          <a:xfrm>
            <a:off x="7388352" y="1965960"/>
            <a:ext cx="457200" cy="457200"/>
          </a:xfrm>
          <a:prstGeom prst="roundRect">
            <a:avLst>
              <a:gd name="adj" fmla="val 12000"/>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17" name="seat-134"/>
          <p:cNvSpPr txBox="1"/>
          <p:nvPr/>
        </p:nvSpPr>
        <p:spPr>
          <a:xfrm>
            <a:off x="7900416" y="1965960"/>
            <a:ext cx="457200" cy="457200"/>
          </a:xfrm>
          <a:prstGeom prst="roundRect">
            <a:avLst>
              <a:gd name="adj" fmla="val 12000"/>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52</a:t>
            </a:r>
            <a:endParaRPr lang="en-US" sz="1500" dirty="0"/>
          </a:p>
        </p:txBody>
      </p:sp>
      <p:sp>
        <p:nvSpPr>
          <p:cNvPr id="18" name="seat-135"/>
          <p:cNvSpPr txBox="1"/>
          <p:nvPr/>
        </p:nvSpPr>
        <p:spPr>
          <a:xfrm>
            <a:off x="8412480" y="1965960"/>
            <a:ext cx="457200" cy="457200"/>
          </a:xfrm>
          <a:prstGeom prst="roundRect">
            <a:avLst>
              <a:gd name="adj" fmla="val 12000"/>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80</a:t>
            </a:r>
            <a:endParaRPr lang="en-US" sz="1500" dirty="0"/>
          </a:p>
        </p:txBody>
      </p:sp>
      <p:sp>
        <p:nvSpPr>
          <p:cNvPr id="19" name="seat-136"/>
          <p:cNvSpPr txBox="1"/>
          <p:nvPr/>
        </p:nvSpPr>
        <p:spPr>
          <a:xfrm>
            <a:off x="8924544" y="1965960"/>
            <a:ext cx="457200" cy="457200"/>
          </a:xfrm>
          <a:prstGeom prst="roundRect">
            <a:avLst>
              <a:gd name="adj" fmla="val 12000"/>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29</a:t>
            </a:r>
            <a:endParaRPr lang="en-US" sz="1500" dirty="0"/>
          </a:p>
        </p:txBody>
      </p:sp>
      <p:sp>
        <p:nvSpPr>
          <p:cNvPr id="20" name="seat-137"/>
          <p:cNvSpPr txBox="1"/>
          <p:nvPr/>
        </p:nvSpPr>
        <p:spPr>
          <a:xfrm>
            <a:off x="9436608" y="1965960"/>
            <a:ext cx="457200" cy="457200"/>
          </a:xfrm>
          <a:prstGeom prst="roundRect">
            <a:avLst>
              <a:gd name="adj" fmla="val 12000"/>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66</a:t>
            </a:r>
            <a:endParaRPr lang="en-US" sz="1500" dirty="0"/>
          </a:p>
        </p:txBody>
      </p:sp>
      <p:sp>
        <p:nvSpPr>
          <p:cNvPr id="21" name="seat-138"/>
          <p:cNvSpPr txBox="1"/>
          <p:nvPr/>
        </p:nvSpPr>
        <p:spPr>
          <a:xfrm>
            <a:off x="9948672" y="1965960"/>
            <a:ext cx="457200" cy="457200"/>
          </a:xfrm>
          <a:prstGeom prst="roundRect">
            <a:avLst>
              <a:gd name="adj" fmla="val 12000"/>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2" name="seat-139"/>
          <p:cNvSpPr txBox="1"/>
          <p:nvPr/>
        </p:nvSpPr>
        <p:spPr>
          <a:xfrm>
            <a:off x="10460736" y="1965960"/>
            <a:ext cx="457200" cy="457200"/>
          </a:xfrm>
          <a:prstGeom prst="roundRect">
            <a:avLst>
              <a:gd name="adj" fmla="val 12000"/>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75</a:t>
            </a:r>
            <a:endParaRPr lang="en-US" sz="1500" dirty="0"/>
          </a:p>
        </p:txBody>
      </p:sp>
      <p:sp>
        <p:nvSpPr>
          <p:cNvPr id="23" name="text-140"/>
          <p:cNvSpPr txBox="1"/>
          <p:nvPr/>
        </p:nvSpPr>
        <p:spPr>
          <a:xfrm>
            <a:off x="548640" y="1463040"/>
            <a:ext cx="5029200" cy="411480"/>
          </a:xfrm>
          <a:prstGeom prst="rect">
            <a:avLst/>
          </a:prstGeom>
          <a:noFill/>
          <a:ln/>
        </p:spPr>
        <p:txBody>
          <a:bodyPr wrap="square" lIns="0" tIns="0" rIns="0" bIns="0" rtlCol="0" anchor="t"/>
          <a:lstStyle/>
          <a:p>
            <a:pPr indent="0" marL="0">
              <a:buNone/>
            </a:pPr>
            <a:r>
              <a:rPr lang="en-US" sz="1700" b="1" dirty="0">
                <a:solidFill>
                  <a:schemeClr val="tx1"/>
                </a:solidFill>
              </a:rPr>
              <a:t>Tör (seats 1–10)</a:t>
            </a:r>
            <a:endParaRPr lang="en-US" sz="1700" dirty="0"/>
          </a:p>
        </p:txBody>
      </p:sp>
      <p:sp>
        <p:nvSpPr>
          <p:cNvPr id="24" name="text-141"/>
          <p:cNvSpPr txBox="1"/>
          <p:nvPr/>
        </p:nvSpPr>
        <p:spPr>
          <a:xfrm>
            <a:off x="5852160" y="1463040"/>
            <a:ext cx="5029200" cy="411480"/>
          </a:xfrm>
          <a:prstGeom prst="rect">
            <a:avLst/>
          </a:prstGeom>
          <a:noFill/>
          <a:ln/>
        </p:spPr>
        <p:txBody>
          <a:bodyPr wrap="square" lIns="0" tIns="0" rIns="0" bIns="0" rtlCol="0" anchor="t"/>
          <a:lstStyle/>
          <a:p>
            <a:pPr indent="0" marL="0">
              <a:buNone/>
            </a:pPr>
            <a:r>
              <a:rPr lang="en-US" sz="1700" b="1" dirty="0">
                <a:solidFill>
                  <a:schemeClr val="tx1"/>
                </a:solidFill>
              </a:rPr>
              <a:t>Table 2 (seats 11–20)</a:t>
            </a:r>
            <a:endParaRPr lang="en-US" sz="1700" dirty="0"/>
          </a:p>
        </p:txBody>
      </p:sp>
      <p:sp>
        <p:nvSpPr>
          <p:cNvPr id="25" name="text-142"/>
          <p:cNvSpPr txBox="1"/>
          <p:nvPr/>
        </p:nvSpPr>
        <p:spPr>
          <a:xfrm>
            <a:off x="11109960" y="1965960"/>
            <a:ext cx="1188720" cy="457200"/>
          </a:xfrm>
          <a:prstGeom prst="rect">
            <a:avLst/>
          </a:prstGeom>
          <a:noFill/>
          <a:ln/>
        </p:spPr>
        <p:txBody>
          <a:bodyPr wrap="square" lIns="0" tIns="0" rIns="0" bIns="0" rtlCol="0" anchor="ctr"/>
          <a:lstStyle/>
          <a:p>
            <a:pPr indent="0" marL="0">
              <a:buNone/>
            </a:pPr>
            <a:r>
              <a:rPr lang="en-US" sz="1600" dirty="0">
                <a:solidFill>
                  <a:schemeClr val="accent6"/>
                </a:solidFill>
              </a:rPr>
              <a:t>… 80 more</a:t>
            </a:r>
            <a:endParaRPr lang="en-US" sz="1600" dirty="0"/>
          </a:p>
        </p:txBody>
      </p:sp>
      <p:sp>
        <p:nvSpPr>
          <p:cNvPr id="26" name="text-143"/>
          <p:cNvSpPr txBox="1"/>
          <p:nvPr/>
        </p:nvSpPr>
        <p:spPr>
          <a:xfrm>
            <a:off x="548640" y="2560320"/>
            <a:ext cx="11064240" cy="411480"/>
          </a:xfrm>
          <a:prstGeom prst="rect">
            <a:avLst/>
          </a:prstGeom>
          <a:noFill/>
          <a:ln/>
        </p:spPr>
        <p:txBody>
          <a:bodyPr wrap="square" lIns="0" tIns="0" rIns="0" bIns="0" rtlCol="0" anchor="t"/>
          <a:lstStyle/>
          <a:p>
            <a:pPr indent="0" marL="0">
              <a:buNone/>
            </a:pPr>
            <a:r>
              <a:rPr lang="en-US" sz="1600" i="1" dirty="0">
                <a:solidFill>
                  <a:schemeClr val="accent6"/>
                </a:solidFill>
              </a:rPr>
              <a:t>Chromosome = a list of all 100 guest ids in some order (a permutation)</a:t>
            </a:r>
            <a:endParaRPr lang="en-US" sz="1600" dirty="0"/>
          </a:p>
        </p:txBody>
      </p:sp>
      <p:sp>
        <p:nvSpPr>
          <p:cNvPr id="27" name="card-144"/>
          <p:cNvSpPr/>
          <p:nvPr/>
        </p:nvSpPr>
        <p:spPr>
          <a:xfrm>
            <a:off x="548640" y="3246120"/>
            <a:ext cx="3535985" cy="2788920"/>
          </a:xfrm>
          <a:prstGeom prst="roundRect">
            <a:avLst>
              <a:gd name="adj" fmla="val 3934"/>
            </a:avLst>
          </a:prstGeom>
          <a:solidFill>
            <a:schemeClr val="bg2"/>
          </a:solidFill>
          <a:ln w="12700">
            <a:solidFill>
              <a:schemeClr val="bg2"/>
            </a:solidFill>
            <a:prstDash val="solid"/>
          </a:ln>
        </p:spPr>
      </p:sp>
      <p:sp>
        <p:nvSpPr>
          <p:cNvPr id="28" name="emoji-145"/>
          <p:cNvSpPr txBox="1"/>
          <p:nvPr/>
        </p:nvSpPr>
        <p:spPr>
          <a:xfrm>
            <a:off x="777240" y="3520440"/>
            <a:ext cx="777240" cy="7772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700" dirty="0">
                <a:solidFill>
                  <a:srgbClr val="000000"/>
                </a:solidFill>
                <a:latin typeface="Segoe UI Emoji" pitchFamily="34" charset="0"/>
                <a:ea typeface="Segoe UI Emoji" pitchFamily="34" charset="-122"/>
                <a:cs typeface="Segoe UI Emoji" pitchFamily="34" charset="-120"/>
              </a:rPr>
              <a:t>📋</a:t>
            </a:r>
            <a:endParaRPr lang="en-US" sz="2700" dirty="0"/>
          </a:p>
        </p:txBody>
      </p:sp>
      <p:sp>
        <p:nvSpPr>
          <p:cNvPr id="29" name="text-146"/>
          <p:cNvSpPr txBox="1"/>
          <p:nvPr/>
        </p:nvSpPr>
        <p:spPr>
          <a:xfrm>
            <a:off x="777240" y="4480560"/>
            <a:ext cx="3108960" cy="457200"/>
          </a:xfrm>
          <a:prstGeom prst="rect">
            <a:avLst/>
          </a:prstGeom>
          <a:noFill/>
          <a:ln/>
        </p:spPr>
        <p:txBody>
          <a:bodyPr wrap="square" lIns="0" tIns="0" rIns="0" bIns="0" rtlCol="0" anchor="t"/>
          <a:lstStyle/>
          <a:p>
            <a:pPr indent="0" marL="0">
              <a:buNone/>
            </a:pPr>
            <a:r>
              <a:rPr lang="en-US" sz="2000" b="1" dirty="0">
                <a:solidFill>
                  <a:schemeClr val="tx1"/>
                </a:solidFill>
              </a:rPr>
              <a:t>One list = one plan</a:t>
            </a:r>
            <a:endParaRPr lang="en-US" sz="2000" dirty="0"/>
          </a:p>
        </p:txBody>
      </p:sp>
      <p:sp>
        <p:nvSpPr>
          <p:cNvPr id="30" name="text-147"/>
          <p:cNvSpPr txBox="1"/>
          <p:nvPr/>
        </p:nvSpPr>
        <p:spPr>
          <a:xfrm>
            <a:off x="777240" y="4983480"/>
            <a:ext cx="3108960" cy="914400"/>
          </a:xfrm>
          <a:prstGeom prst="rect">
            <a:avLst/>
          </a:prstGeom>
          <a:noFill/>
          <a:ln/>
        </p:spPr>
        <p:txBody>
          <a:bodyPr wrap="square" lIns="0" tIns="0" rIns="0" bIns="0" rtlCol="0" anchor="t"/>
          <a:lstStyle/>
          <a:p>
            <a:pPr indent="0" marL="0">
              <a:buNone/>
            </a:pPr>
            <a:r>
              <a:rPr lang="en-US" sz="1600" dirty="0">
                <a:solidFill>
                  <a:schemeClr val="tx1"/>
                </a:solidFill>
              </a:rPr>
              <a:t>Each of the 100 guests appears exactly once.</a:t>
            </a:r>
            <a:endParaRPr lang="en-US" sz="1600" dirty="0"/>
          </a:p>
        </p:txBody>
      </p:sp>
      <p:sp>
        <p:nvSpPr>
          <p:cNvPr id="31" name="card-148"/>
          <p:cNvSpPr/>
          <p:nvPr/>
        </p:nvSpPr>
        <p:spPr>
          <a:xfrm>
            <a:off x="4313225" y="3246120"/>
            <a:ext cx="3535985" cy="2788920"/>
          </a:xfrm>
          <a:prstGeom prst="roundRect">
            <a:avLst>
              <a:gd name="adj" fmla="val 3934"/>
            </a:avLst>
          </a:prstGeom>
          <a:solidFill>
            <a:schemeClr val="bg2"/>
          </a:solidFill>
          <a:ln w="12700">
            <a:solidFill>
              <a:schemeClr val="bg2"/>
            </a:solidFill>
            <a:prstDash val="solid"/>
          </a:ln>
        </p:spPr>
      </p:sp>
      <p:sp>
        <p:nvSpPr>
          <p:cNvPr id="32" name="emoji-149"/>
          <p:cNvSpPr txBox="1"/>
          <p:nvPr/>
        </p:nvSpPr>
        <p:spPr>
          <a:xfrm>
            <a:off x="4541825" y="3520440"/>
            <a:ext cx="777240" cy="7772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700" dirty="0">
                <a:solidFill>
                  <a:srgbClr val="000000"/>
                </a:solidFill>
                <a:latin typeface="Segoe UI Emoji" pitchFamily="34" charset="0"/>
                <a:ea typeface="Segoe UI Emoji" pitchFamily="34" charset="-122"/>
                <a:cs typeface="Segoe UI Emoji" pitchFamily="34" charset="-120"/>
              </a:rPr>
              <a:t>🪑</a:t>
            </a:r>
            <a:endParaRPr lang="en-US" sz="2700" dirty="0"/>
          </a:p>
        </p:txBody>
      </p:sp>
      <p:sp>
        <p:nvSpPr>
          <p:cNvPr id="33" name="text-150"/>
          <p:cNvSpPr txBox="1"/>
          <p:nvPr/>
        </p:nvSpPr>
        <p:spPr>
          <a:xfrm>
            <a:off x="4541825" y="4480560"/>
            <a:ext cx="3108960" cy="457200"/>
          </a:xfrm>
          <a:prstGeom prst="rect">
            <a:avLst/>
          </a:prstGeom>
          <a:noFill/>
          <a:ln/>
        </p:spPr>
        <p:txBody>
          <a:bodyPr wrap="square" lIns="0" tIns="0" rIns="0" bIns="0" rtlCol="0" anchor="t"/>
          <a:lstStyle/>
          <a:p>
            <a:pPr indent="0" marL="0">
              <a:buNone/>
            </a:pPr>
            <a:r>
              <a:rPr lang="en-US" sz="2000" b="1" dirty="0">
                <a:solidFill>
                  <a:schemeClr val="tx1"/>
                </a:solidFill>
              </a:rPr>
              <a:t>Position → table</a:t>
            </a:r>
            <a:endParaRPr lang="en-US" sz="2000" dirty="0"/>
          </a:p>
        </p:txBody>
      </p:sp>
      <p:sp>
        <p:nvSpPr>
          <p:cNvPr id="34" name="text-151"/>
          <p:cNvSpPr txBox="1"/>
          <p:nvPr/>
        </p:nvSpPr>
        <p:spPr>
          <a:xfrm>
            <a:off x="4541825" y="4983480"/>
            <a:ext cx="3108960" cy="914400"/>
          </a:xfrm>
          <a:prstGeom prst="rect">
            <a:avLst/>
          </a:prstGeom>
          <a:noFill/>
          <a:ln/>
        </p:spPr>
        <p:txBody>
          <a:bodyPr wrap="square" lIns="0" tIns="0" rIns="0" bIns="0" rtlCol="0" anchor="t"/>
          <a:lstStyle/>
          <a:p>
            <a:pPr indent="0" marL="0">
              <a:buNone/>
            </a:pPr>
            <a:r>
              <a:rPr lang="en-US" sz="1600" dirty="0">
                <a:solidFill>
                  <a:schemeClr val="tx1"/>
                </a:solidFill>
              </a:rPr>
              <a:t>Seats 1–10 are the tör, seats 11–20 are table 2, and so on.</a:t>
            </a:r>
            <a:endParaRPr lang="en-US" sz="1600" dirty="0"/>
          </a:p>
        </p:txBody>
      </p:sp>
      <p:sp>
        <p:nvSpPr>
          <p:cNvPr id="35" name="card-152"/>
          <p:cNvSpPr/>
          <p:nvPr/>
        </p:nvSpPr>
        <p:spPr>
          <a:xfrm>
            <a:off x="8077810" y="3246120"/>
            <a:ext cx="3535985" cy="2788920"/>
          </a:xfrm>
          <a:prstGeom prst="roundRect">
            <a:avLst>
              <a:gd name="adj" fmla="val 3934"/>
            </a:avLst>
          </a:prstGeom>
          <a:solidFill>
            <a:schemeClr val="bg2"/>
          </a:solidFill>
          <a:ln w="12700">
            <a:solidFill>
              <a:schemeClr val="bg2"/>
            </a:solidFill>
            <a:prstDash val="solid"/>
          </a:ln>
        </p:spPr>
      </p:sp>
      <p:sp>
        <p:nvSpPr>
          <p:cNvPr id="36" name="emoji-153"/>
          <p:cNvSpPr txBox="1"/>
          <p:nvPr/>
        </p:nvSpPr>
        <p:spPr>
          <a:xfrm>
            <a:off x="8306410" y="3520440"/>
            <a:ext cx="777240" cy="7772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700" dirty="0">
                <a:solidFill>
                  <a:srgbClr val="000000"/>
                </a:solidFill>
                <a:latin typeface="Segoe UI Emoji" pitchFamily="34" charset="0"/>
                <a:ea typeface="Segoe UI Emoji" pitchFamily="34" charset="-122"/>
                <a:cs typeface="Segoe UI Emoji" pitchFamily="34" charset="-120"/>
              </a:rPr>
              <a:t>✅</a:t>
            </a:r>
            <a:endParaRPr lang="en-US" sz="2700" dirty="0"/>
          </a:p>
        </p:txBody>
      </p:sp>
      <p:sp>
        <p:nvSpPr>
          <p:cNvPr id="37" name="text-154"/>
          <p:cNvSpPr txBox="1"/>
          <p:nvPr/>
        </p:nvSpPr>
        <p:spPr>
          <a:xfrm>
            <a:off x="8306410" y="4480560"/>
            <a:ext cx="3108960" cy="457200"/>
          </a:xfrm>
          <a:prstGeom prst="rect">
            <a:avLst/>
          </a:prstGeom>
          <a:noFill/>
          <a:ln/>
        </p:spPr>
        <p:txBody>
          <a:bodyPr wrap="square" lIns="0" tIns="0" rIns="0" bIns="0" rtlCol="0" anchor="t"/>
          <a:lstStyle/>
          <a:p>
            <a:pPr indent="0" marL="0">
              <a:buNone/>
            </a:pPr>
            <a:r>
              <a:rPr lang="en-US" sz="2000" b="1" dirty="0">
                <a:solidFill>
                  <a:schemeClr val="tx1"/>
                </a:solidFill>
              </a:rPr>
              <a:t>Capacity for free</a:t>
            </a:r>
            <a:endParaRPr lang="en-US" sz="2000" dirty="0"/>
          </a:p>
        </p:txBody>
      </p:sp>
      <p:sp>
        <p:nvSpPr>
          <p:cNvPr id="38" name="text-155"/>
          <p:cNvSpPr txBox="1"/>
          <p:nvPr/>
        </p:nvSpPr>
        <p:spPr>
          <a:xfrm>
            <a:off x="8306410" y="4983480"/>
            <a:ext cx="3108960" cy="914400"/>
          </a:xfrm>
          <a:prstGeom prst="rect">
            <a:avLst/>
          </a:prstGeom>
          <a:noFill/>
          <a:ln/>
        </p:spPr>
        <p:txBody>
          <a:bodyPr wrap="square" lIns="0" tIns="0" rIns="0" bIns="0" rtlCol="0" anchor="t"/>
          <a:lstStyle/>
          <a:p>
            <a:pPr indent="0" marL="0">
              <a:buNone/>
            </a:pPr>
            <a:r>
              <a:rPr lang="en-US" sz="1600" dirty="0">
                <a:solidFill>
                  <a:schemeClr val="tx1"/>
                </a:solidFill>
              </a:rPr>
              <a:t>Every table always has exactly 10 guests, so that rule can never be broken.</a:t>
            </a:r>
            <a:endParaRPr lang="en-US" sz="16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Fitness: how happy is this toi?</a:t>
            </a:r>
            <a:endParaRPr lang="en-US" sz="3600" dirty="0"/>
          </a:p>
        </p:txBody>
      </p:sp>
      <p:sp>
        <p:nvSpPr>
          <p:cNvPr id="3" name="card-156"/>
          <p:cNvSpPr/>
          <p:nvPr/>
        </p:nvSpPr>
        <p:spPr>
          <a:xfrm>
            <a:off x="548640" y="1325880"/>
            <a:ext cx="11064240" cy="914400"/>
          </a:xfrm>
          <a:prstGeom prst="roundRect">
            <a:avLst>
              <a:gd name="adj" fmla="val 12000"/>
            </a:avLst>
          </a:prstGeom>
          <a:solidFill>
            <a:schemeClr val="tx2"/>
          </a:solidFill>
          <a:ln w="12700">
            <a:solidFill>
              <a:schemeClr val="tx2"/>
            </a:solidFill>
            <a:prstDash val="solid"/>
          </a:ln>
        </p:spPr>
      </p:sp>
      <p:sp>
        <p:nvSpPr>
          <p:cNvPr id="4" name="text-157"/>
          <p:cNvSpPr txBox="1"/>
          <p:nvPr/>
        </p:nvSpPr>
        <p:spPr>
          <a:xfrm>
            <a:off x="548640" y="1325880"/>
            <a:ext cx="11064240" cy="914400"/>
          </a:xfrm>
          <a:prstGeom prst="rect">
            <a:avLst/>
          </a:prstGeom>
          <a:noFill/>
          <a:ln/>
        </p:spPr>
        <p:txBody>
          <a:bodyPr wrap="square" lIns="0" tIns="0" rIns="0" bIns="0" rtlCol="0" anchor="ctr"/>
          <a:lstStyle/>
          <a:p>
            <a:pPr algn="ctr" indent="0" marL="0">
              <a:buNone/>
            </a:pPr>
            <a:r>
              <a:rPr lang="en-US" sz="2200" b="1" dirty="0">
                <a:solidFill>
                  <a:schemeClr val="bg1"/>
                </a:solidFill>
              </a:rPr>
              <a:t>happiness  =  Σ points of every pair at the same table  +  100 × elders at the tör</a:t>
            </a:r>
            <a:endParaRPr lang="en-US" sz="2200" dirty="0"/>
          </a:p>
        </p:txBody>
      </p:sp>
      <p:graphicFrame>
        <p:nvGraphicFramePr>
          <p:cNvPr id="10" name="table-158"/>
          <p:cNvGraphicFramePr>
            <a:graphicFrameLocks noGrp="1"/>
          </p:cNvGraphicFramePr>
          <p:nvPr>
            <p:extLst>
              <p:ext uri="{D42A27DB-BD31-4B8C-83A1-F6EECF244321}">
                <p14:modId xmlns:p14="http://schemas.microsoft.com/office/powerpoint/2010/main" val="1579011935"/>
              </p:ext>
            </p:extLst>
          </p:nvPr>
        </p:nvGraphicFramePr>
        <p:xfrm>
          <a:off x="548640" y="2560320"/>
          <a:ext cx="5852160" cy="914400"/>
        </p:xfrm>
        <a:graphic>
          <a:graphicData uri="http://schemas.openxmlformats.org/drawingml/2006/table">
            <a:tbl>
              <a:tblPr/>
              <a:tblGrid>
                <a:gridCol w="4023360"/>
                <a:gridCol w="1828800"/>
              </a:tblGrid>
              <a:tr h="548640">
                <a:tc>
                  <a:txBody>
                    <a:bodyPr/>
                    <a:lstStyle/>
                    <a:p>
                      <a:pPr indent="0" marL="0">
                        <a:buNone/>
                      </a:pPr>
                      <a:r>
                        <a:rPr lang="en-US" sz="1700" b="1" dirty="0">
                          <a:solidFill>
                            <a:schemeClr val="bg1"/>
                          </a:solidFill>
                        </a:rPr>
                        <a:t>Rule</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Points</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tx2"/>
                    </a:solidFill>
                  </a:tcPr>
                </a:tc>
              </a:tr>
              <a:tr h="548640">
                <a:tc>
                  <a:txBody>
                    <a:bodyPr/>
                    <a:lstStyle/>
                    <a:p>
                      <a:pPr indent="0" marL="0">
                        <a:buNone/>
                      </a:pPr>
                      <a:r>
                        <a:rPr lang="en-US" sz="1700" dirty="0">
                          <a:solidFill>
                            <a:schemeClr val="tx1"/>
                          </a:solidFill>
                        </a:rPr>
                        <a:t>👪  Relatives at the same table</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+10 per pair</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r>
              <a:tr h="548640">
                <a:tc>
                  <a:txBody>
                    <a:bodyPr/>
                    <a:lstStyle/>
                    <a:p>
                      <a:pPr indent="0" marL="0">
                        <a:buNone/>
                      </a:pPr>
                      <a:r>
                        <a:rPr lang="en-US" sz="1700" dirty="0">
                          <a:solidFill>
                            <a:schemeClr val="tx1"/>
                          </a:solidFill>
                        </a:rPr>
                        <a:t>🤝  Friends at the same table</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+5 per pair</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r>
              <a:tr h="548640">
                <a:tc>
                  <a:txBody>
                    <a:bodyPr/>
                    <a:lstStyle/>
                    <a:p>
                      <a:pPr indent="0" marL="0">
                        <a:buNone/>
                      </a:pPr>
                      <a:r>
                        <a:rPr lang="en-US" sz="1700" dirty="0">
                          <a:solidFill>
                            <a:schemeClr val="tx1"/>
                          </a:solidFill>
                        </a:rPr>
                        <a:t>⚔️  Feud at the same table</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−100 per pair</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r>
              <a:tr h="548640">
                <a:tc>
                  <a:txBody>
                    <a:bodyPr/>
                    <a:lstStyle/>
                    <a:p>
                      <a:pPr indent="0" marL="0">
                        <a:buNone/>
                      </a:pPr>
                      <a:r>
                        <a:rPr lang="en-US" sz="1700" dirty="0">
                          <a:solidFill>
                            <a:schemeClr val="tx1"/>
                          </a:solidFill>
                        </a:rPr>
                        <a:t>👴  Elder at the tör</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+100 per elder</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r>
            </a:tbl>
          </a:graphicData>
        </a:graphic>
      </p:graphicFrame>
      <p:sp>
        <p:nvSpPr>
          <p:cNvPr id="6" name="text-159"/>
          <p:cNvSpPr txBox="1"/>
          <p:nvPr/>
        </p:nvSpPr>
        <p:spPr>
          <a:xfrm>
            <a:off x="548640" y="5486400"/>
            <a:ext cx="5852160" cy="457200"/>
          </a:xfrm>
          <a:prstGeom prst="rect">
            <a:avLst/>
          </a:prstGeom>
          <a:noFill/>
          <a:ln/>
        </p:spPr>
        <p:txBody>
          <a:bodyPr wrap="square" lIns="0" tIns="0" rIns="0" bIns="0" rtlCol="0" anchor="t"/>
          <a:lstStyle/>
          <a:p>
            <a:pPr indent="0" marL="0">
              <a:buNone/>
            </a:pPr>
            <a:r>
              <a:rPr lang="en-US" sz="1600" i="1" dirty="0">
                <a:solidFill>
                  <a:schemeClr val="accent6"/>
                </a:solidFill>
              </a:rPr>
              <a:t>Big rules (±100) always beat small wishes (+5, +10).</a:t>
            </a:r>
            <a:endParaRPr lang="en-US" sz="1600" dirty="0"/>
          </a:p>
        </p:txBody>
      </p:sp>
      <p:sp>
        <p:nvSpPr>
          <p:cNvPr id="7" name="card-160"/>
          <p:cNvSpPr/>
          <p:nvPr/>
        </p:nvSpPr>
        <p:spPr>
          <a:xfrm>
            <a:off x="6766560" y="2560320"/>
            <a:ext cx="4846320" cy="3474720"/>
          </a:xfrm>
          <a:prstGeom prst="roundRect">
            <a:avLst>
              <a:gd name="adj" fmla="val 3158"/>
            </a:avLst>
          </a:prstGeom>
          <a:solidFill>
            <a:schemeClr val="bg2"/>
          </a:solidFill>
          <a:ln w="12700">
            <a:solidFill>
              <a:schemeClr val="bg2"/>
            </a:solidFill>
            <a:prstDash val="solid"/>
          </a:ln>
        </p:spPr>
      </p:sp>
      <p:sp>
        <p:nvSpPr>
          <p:cNvPr id="8" name="text-161"/>
          <p:cNvSpPr txBox="1"/>
          <p:nvPr/>
        </p:nvSpPr>
        <p:spPr>
          <a:xfrm>
            <a:off x="7040880" y="2743200"/>
            <a:ext cx="4389120" cy="457200"/>
          </a:xfrm>
          <a:prstGeom prst="rect">
            <a:avLst/>
          </a:prstGeom>
          <a:noFill/>
          <a:ln/>
        </p:spPr>
        <p:txBody>
          <a:bodyPr wrap="square" lIns="0" tIns="0" rIns="0" bIns="0" rtlCol="0" anchor="t"/>
          <a:lstStyle/>
          <a:p>
            <a:pPr indent="0" marL="0">
              <a:buNone/>
            </a:pPr>
            <a:r>
              <a:rPr lang="en-US" sz="2000" b="1" dirty="0">
                <a:solidFill>
                  <a:schemeClr val="tx1"/>
                </a:solidFill>
              </a:rPr>
              <a:t>Example: one table</a:t>
            </a:r>
            <a:endParaRPr lang="en-US" sz="2000" dirty="0"/>
          </a:p>
        </p:txBody>
      </p:sp>
      <p:sp>
        <p:nvSpPr>
          <p:cNvPr id="9" name="text-162"/>
          <p:cNvSpPr txBox="1"/>
          <p:nvPr/>
        </p:nvSpPr>
        <p:spPr>
          <a:xfrm>
            <a:off x="7040880" y="3291840"/>
            <a:ext cx="4389120" cy="1828800"/>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3 relatives → 3 pairs × 10 = +30</a:t>
            </a:r>
            <a:endParaRPr lang="en-US" sz="1800" dirty="0"/>
          </a:p>
          <a:p>
            <a:pPr indent="0" marL="0">
              <a:spcAft>
                <a:spcPts val="800"/>
              </a:spcAft>
              <a:buNone/>
            </a:pPr>
            <a:r>
              <a:rPr lang="en-US" sz="1800" dirty="0">
                <a:solidFill>
                  <a:schemeClr val="tx1"/>
                </a:solidFill>
              </a:rPr>
              <a:t>1 pair of friends = +5</a:t>
            </a:r>
            <a:endParaRPr lang="en-US" sz="1800" dirty="0"/>
          </a:p>
          <a:p>
            <a:pPr indent="0" marL="0">
              <a:spcAft>
                <a:spcPts val="800"/>
              </a:spcAft>
              <a:buNone/>
            </a:pPr>
            <a:r>
              <a:rPr lang="en-US" sz="1800" dirty="0">
                <a:solidFill>
                  <a:schemeClr val="tx1"/>
                </a:solidFill>
              </a:rPr>
              <a:t>1 feud = −100</a:t>
            </a:r>
            <a:endParaRPr lang="en-US" sz="1800" dirty="0"/>
          </a:p>
          <a:p>
            <a:pPr indent="0" marL="0">
              <a:spcAft>
                <a:spcPts val="800"/>
              </a:spcAft>
              <a:buNone/>
            </a:pPr>
            <a:r>
              <a:rPr lang="en-US" sz="2400" b="1" dirty="0">
                <a:solidFill>
                  <a:schemeClr val="accent1"/>
                </a:solidFill>
              </a:rPr>
              <a:t>Total: −65 😬</a:t>
            </a:r>
            <a:endParaRPr lang="en-US" sz="1800" dirty="0"/>
          </a:p>
        </p:txBody>
      </p:sp>
      <p:sp>
        <p:nvSpPr>
          <p:cNvPr id="10" name="text-163"/>
          <p:cNvSpPr txBox="1"/>
          <p:nvPr/>
        </p:nvSpPr>
        <p:spPr>
          <a:xfrm>
            <a:off x="7040880" y="5257800"/>
            <a:ext cx="4389120" cy="548640"/>
          </a:xfrm>
          <a:prstGeom prst="rect">
            <a:avLst/>
          </a:prstGeom>
          <a:noFill/>
          <a:ln/>
        </p:spPr>
        <p:txBody>
          <a:bodyPr wrap="square" lIns="0" tIns="0" rIns="0" bIns="0" rtlCol="0" anchor="t"/>
          <a:lstStyle/>
          <a:p>
            <a:pPr indent="0" marL="0">
              <a:buNone/>
            </a:pPr>
            <a:r>
              <a:rPr lang="en-US" sz="1500" i="1" dirty="0">
                <a:solidFill>
                  <a:schemeClr val="accent6"/>
                </a:solidFill>
              </a:rPr>
              <a:t>One fight at the table ruins the whole toi 💥</a:t>
            </a:r>
            <a:endParaRPr lang="en-US" sz="15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Selection and crossover</a:t>
            </a:r>
            <a:endParaRPr lang="en-US" sz="3600" dirty="0"/>
          </a:p>
        </p:txBody>
      </p:sp>
      <p:sp>
        <p:nvSpPr>
          <p:cNvPr id="3" name="card-164"/>
          <p:cNvSpPr/>
          <p:nvPr/>
        </p:nvSpPr>
        <p:spPr>
          <a:xfrm>
            <a:off x="548640" y="1325880"/>
            <a:ext cx="5120640" cy="4754880"/>
          </a:xfrm>
          <a:prstGeom prst="roundRect">
            <a:avLst>
              <a:gd name="adj" fmla="val 2308"/>
            </a:avLst>
          </a:prstGeom>
          <a:solidFill>
            <a:schemeClr val="bg2"/>
          </a:solidFill>
          <a:ln w="12700">
            <a:solidFill>
              <a:schemeClr val="bg2"/>
            </a:solidFill>
            <a:prstDash val="solid"/>
          </a:ln>
        </p:spPr>
      </p:sp>
      <p:sp>
        <p:nvSpPr>
          <p:cNvPr id="4" name="emoji-165"/>
          <p:cNvSpPr txBox="1"/>
          <p:nvPr/>
        </p:nvSpPr>
        <p:spPr>
          <a:xfrm>
            <a:off x="777240" y="1554480"/>
            <a:ext cx="685800" cy="6858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5" name="text-166"/>
          <p:cNvSpPr txBox="1"/>
          <p:nvPr/>
        </p:nvSpPr>
        <p:spPr>
          <a:xfrm>
            <a:off x="1645920" y="1554480"/>
            <a:ext cx="3794760" cy="685800"/>
          </a:xfrm>
          <a:prstGeom prst="rect">
            <a:avLst/>
          </a:prstGeom>
          <a:noFill/>
          <a:ln/>
        </p:spPr>
        <p:txBody>
          <a:bodyPr wrap="square" lIns="0" tIns="0" rIns="0" bIns="0" rtlCol="0" anchor="ctr"/>
          <a:lstStyle/>
          <a:p>
            <a:pPr indent="0" marL="0">
              <a:buNone/>
            </a:pPr>
            <a:r>
              <a:rPr lang="en-US" sz="2100" b="1" dirty="0">
                <a:solidFill>
                  <a:schemeClr val="tx1"/>
                </a:solidFill>
              </a:rPr>
              <a:t>Tournament selection</a:t>
            </a:r>
            <a:endParaRPr lang="en-US" sz="2100" dirty="0"/>
          </a:p>
        </p:txBody>
      </p:sp>
      <p:sp>
        <p:nvSpPr>
          <p:cNvPr id="6" name="chip-167"/>
          <p:cNvSpPr txBox="1"/>
          <p:nvPr/>
        </p:nvSpPr>
        <p:spPr>
          <a:xfrm>
            <a:off x="868680" y="2514600"/>
            <a:ext cx="4480560" cy="548640"/>
          </a:xfrm>
          <a:prstGeom prst="roundRect">
            <a:avLst>
              <a:gd name="adj" fmla="val 13333"/>
            </a:avLst>
          </a:prstGeom>
          <a:solidFill>
            <a:schemeClr val="bg1"/>
          </a:solidFill>
          <a:ln w="12700">
            <a:solidFill>
              <a:srgbClr val="E5DADD"/>
            </a:solidFill>
          </a:ln>
        </p:spPr>
        <p:txBody>
          <a:bodyPr wrap="square" lIns="127000" tIns="127000" rIns="127000" bIns="127000" rtlCol="0" anchor="ctr"/>
          <a:lstStyle/>
          <a:p>
            <a:pPr indent="0" marL="0">
              <a:buNone/>
            </a:pPr>
            <a:r>
              <a:rPr lang="en-US" sz="1700" dirty="0">
                <a:solidFill>
                  <a:schemeClr val="tx1"/>
                </a:solidFill>
              </a:rPr>
              <a:t>Plan #17    happiness 1250</a:t>
            </a:r>
            <a:endParaRPr lang="en-US" sz="1700" dirty="0"/>
          </a:p>
        </p:txBody>
      </p:sp>
      <p:sp>
        <p:nvSpPr>
          <p:cNvPr id="7" name="chip-168"/>
          <p:cNvSpPr txBox="1"/>
          <p:nvPr/>
        </p:nvSpPr>
        <p:spPr>
          <a:xfrm>
            <a:off x="868680" y="3246120"/>
            <a:ext cx="4480560" cy="548640"/>
          </a:xfrm>
          <a:prstGeom prst="roundRect">
            <a:avLst>
              <a:gd name="adj" fmla="val 13333"/>
            </a:avLst>
          </a:prstGeom>
          <a:solidFill>
            <a:schemeClr val="accent2"/>
          </a:solidFill>
          <a:ln w="12700">
            <a:solidFill>
              <a:schemeClr val="accent2"/>
            </a:solidFill>
          </a:ln>
        </p:spPr>
        <p:txBody>
          <a:bodyPr wrap="square" lIns="127000" tIns="127000" rIns="127000" bIns="127000" rtlCol="0" anchor="ctr"/>
          <a:lstStyle/>
          <a:p>
            <a:pPr indent="0" marL="0">
              <a:buNone/>
            </a:pPr>
            <a:r>
              <a:rPr lang="en-US" sz="1700" b="1" dirty="0">
                <a:solidFill>
                  <a:schemeClr val="tx1"/>
                </a:solidFill>
              </a:rPr>
              <a:t>Plan #42    happiness 2310   👑</a:t>
            </a:r>
            <a:endParaRPr lang="en-US" sz="1700" dirty="0"/>
          </a:p>
        </p:txBody>
      </p:sp>
      <p:sp>
        <p:nvSpPr>
          <p:cNvPr id="8" name="chip-169"/>
          <p:cNvSpPr txBox="1"/>
          <p:nvPr/>
        </p:nvSpPr>
        <p:spPr>
          <a:xfrm>
            <a:off x="868680" y="3977640"/>
            <a:ext cx="4480560" cy="548640"/>
          </a:xfrm>
          <a:prstGeom prst="roundRect">
            <a:avLst>
              <a:gd name="adj" fmla="val 13333"/>
            </a:avLst>
          </a:prstGeom>
          <a:solidFill>
            <a:schemeClr val="bg1"/>
          </a:solidFill>
          <a:ln w="12700">
            <a:solidFill>
              <a:srgbClr val="E5DADD"/>
            </a:solidFill>
          </a:ln>
        </p:spPr>
        <p:txBody>
          <a:bodyPr wrap="square" lIns="127000" tIns="127000" rIns="127000" bIns="127000" rtlCol="0" anchor="ctr"/>
          <a:lstStyle/>
          <a:p>
            <a:pPr indent="0" marL="0">
              <a:buNone/>
            </a:pPr>
            <a:r>
              <a:rPr lang="en-US" sz="1700" dirty="0">
                <a:solidFill>
                  <a:schemeClr val="tx1"/>
                </a:solidFill>
              </a:rPr>
              <a:t>Plan #73    happiness 1980</a:t>
            </a:r>
            <a:endParaRPr lang="en-US" sz="1700" dirty="0"/>
          </a:p>
        </p:txBody>
      </p:sp>
      <p:sp>
        <p:nvSpPr>
          <p:cNvPr id="9" name="text-170"/>
          <p:cNvSpPr txBox="1"/>
          <p:nvPr/>
        </p:nvSpPr>
        <p:spPr>
          <a:xfrm>
            <a:off x="868680" y="4754880"/>
            <a:ext cx="4480560" cy="114300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Pick 3 random plans: the happiest one becomes a parent.</a:t>
            </a:r>
            <a:endParaRPr lang="en-US" sz="1600" dirty="0"/>
          </a:p>
          <a:p>
            <a:pPr indent="0" marL="0">
              <a:spcAft>
                <a:spcPts val="600"/>
              </a:spcAft>
              <a:buNone/>
            </a:pPr>
            <a:r>
              <a:rPr lang="en-US" sz="1600" b="1" i="1" dirty="0">
                <a:solidFill>
                  <a:schemeClr val="accent1"/>
                </a:solidFill>
              </a:rPr>
              <a:t>Hunger Games, but for seating plans 🏹</a:t>
            </a:r>
            <a:endParaRPr lang="en-US" sz="1600" dirty="0"/>
          </a:p>
        </p:txBody>
      </p:sp>
      <p:sp>
        <p:nvSpPr>
          <p:cNvPr id="10" name="card-171"/>
          <p:cNvSpPr/>
          <p:nvPr/>
        </p:nvSpPr>
        <p:spPr>
          <a:xfrm>
            <a:off x="5943600" y="1325880"/>
            <a:ext cx="5669280" cy="4754880"/>
          </a:xfrm>
          <a:prstGeom prst="roundRect">
            <a:avLst>
              <a:gd name="adj" fmla="val 2308"/>
            </a:avLst>
          </a:prstGeom>
          <a:solidFill>
            <a:schemeClr val="bg2"/>
          </a:solidFill>
          <a:ln w="12700">
            <a:solidFill>
              <a:schemeClr val="bg2"/>
            </a:solidFill>
            <a:prstDash val="solid"/>
          </a:ln>
        </p:spPr>
      </p:sp>
      <p:sp>
        <p:nvSpPr>
          <p:cNvPr id="11" name="emoji-172"/>
          <p:cNvSpPr txBox="1"/>
          <p:nvPr/>
        </p:nvSpPr>
        <p:spPr>
          <a:xfrm>
            <a:off x="6172200" y="1554480"/>
            <a:ext cx="685800" cy="6858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12" name="text-173"/>
          <p:cNvSpPr txBox="1"/>
          <p:nvPr/>
        </p:nvSpPr>
        <p:spPr>
          <a:xfrm>
            <a:off x="7040880" y="1554480"/>
            <a:ext cx="4343400" cy="685800"/>
          </a:xfrm>
          <a:prstGeom prst="rect">
            <a:avLst/>
          </a:prstGeom>
          <a:noFill/>
          <a:ln/>
        </p:spPr>
        <p:txBody>
          <a:bodyPr wrap="square" lIns="0" tIns="0" rIns="0" bIns="0" rtlCol="0" anchor="ctr"/>
          <a:lstStyle/>
          <a:p>
            <a:pPr indent="0" marL="0">
              <a:buNone/>
            </a:pPr>
            <a:r>
              <a:rPr lang="en-US" sz="2100" b="1" dirty="0">
                <a:solidFill>
                  <a:schemeClr val="tx1"/>
                </a:solidFill>
              </a:rPr>
              <a:t>Order crossover</a:t>
            </a:r>
            <a:endParaRPr lang="en-US" sz="2100" dirty="0"/>
          </a:p>
        </p:txBody>
      </p:sp>
      <p:sp>
        <p:nvSpPr>
          <p:cNvPr id="13" name="text-174"/>
          <p:cNvSpPr txBox="1"/>
          <p:nvPr/>
        </p:nvSpPr>
        <p:spPr>
          <a:xfrm>
            <a:off x="6217920" y="2514600"/>
            <a:ext cx="822960" cy="475488"/>
          </a:xfrm>
          <a:prstGeom prst="rect">
            <a:avLst/>
          </a:prstGeom>
          <a:noFill/>
          <a:ln/>
        </p:spPr>
        <p:txBody>
          <a:bodyPr wrap="square" lIns="0" tIns="0" rIns="0" bIns="0" rtlCol="0" anchor="ctr"/>
          <a:lstStyle/>
          <a:p>
            <a:pPr indent="0" marL="0">
              <a:buNone/>
            </a:pPr>
            <a:r>
              <a:rPr lang="en-US" sz="1700" b="1" dirty="0">
                <a:solidFill>
                  <a:schemeClr val="tx1"/>
                </a:solidFill>
              </a:rPr>
              <a:t>Mom</a:t>
            </a:r>
            <a:endParaRPr lang="en-US" sz="1700" dirty="0"/>
          </a:p>
        </p:txBody>
      </p:sp>
      <p:sp>
        <p:nvSpPr>
          <p:cNvPr id="14" name="seat-175"/>
          <p:cNvSpPr txBox="1"/>
          <p:nvPr/>
        </p:nvSpPr>
        <p:spPr>
          <a:xfrm>
            <a:off x="7086600" y="25146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1</a:t>
            </a:r>
            <a:endParaRPr lang="en-US" sz="1500" dirty="0"/>
          </a:p>
        </p:txBody>
      </p:sp>
      <p:sp>
        <p:nvSpPr>
          <p:cNvPr id="15" name="seat-176"/>
          <p:cNvSpPr txBox="1"/>
          <p:nvPr/>
        </p:nvSpPr>
        <p:spPr>
          <a:xfrm>
            <a:off x="7635240" y="25146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2</a:t>
            </a:r>
            <a:endParaRPr lang="en-US" sz="1500" dirty="0"/>
          </a:p>
        </p:txBody>
      </p:sp>
      <p:sp>
        <p:nvSpPr>
          <p:cNvPr id="16" name="seat-177"/>
          <p:cNvSpPr txBox="1"/>
          <p:nvPr/>
        </p:nvSpPr>
        <p:spPr>
          <a:xfrm>
            <a:off x="8183880" y="2514600"/>
            <a:ext cx="475488" cy="475488"/>
          </a:xfrm>
          <a:prstGeom prst="roundRect">
            <a:avLst>
              <a:gd name="adj" fmla="val 11538"/>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17" name="seat-178"/>
          <p:cNvSpPr txBox="1"/>
          <p:nvPr/>
        </p:nvSpPr>
        <p:spPr>
          <a:xfrm>
            <a:off x="8732520" y="2514600"/>
            <a:ext cx="475488" cy="475488"/>
          </a:xfrm>
          <a:prstGeom prst="roundRect">
            <a:avLst>
              <a:gd name="adj" fmla="val 11538"/>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18" name="seat-179"/>
          <p:cNvSpPr txBox="1"/>
          <p:nvPr/>
        </p:nvSpPr>
        <p:spPr>
          <a:xfrm>
            <a:off x="9281160" y="2514600"/>
            <a:ext cx="475488" cy="475488"/>
          </a:xfrm>
          <a:prstGeom prst="roundRect">
            <a:avLst>
              <a:gd name="adj" fmla="val 11538"/>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5</a:t>
            </a:r>
            <a:endParaRPr lang="en-US" sz="1500" dirty="0"/>
          </a:p>
        </p:txBody>
      </p:sp>
      <p:sp>
        <p:nvSpPr>
          <p:cNvPr id="19" name="seat-180"/>
          <p:cNvSpPr txBox="1"/>
          <p:nvPr/>
        </p:nvSpPr>
        <p:spPr>
          <a:xfrm>
            <a:off x="9829800" y="25146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6</a:t>
            </a:r>
            <a:endParaRPr lang="en-US" sz="1500" dirty="0"/>
          </a:p>
        </p:txBody>
      </p:sp>
      <p:sp>
        <p:nvSpPr>
          <p:cNvPr id="20" name="seat-181"/>
          <p:cNvSpPr txBox="1"/>
          <p:nvPr/>
        </p:nvSpPr>
        <p:spPr>
          <a:xfrm>
            <a:off x="10378440" y="25146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7</a:t>
            </a:r>
            <a:endParaRPr lang="en-US" sz="1500" dirty="0"/>
          </a:p>
        </p:txBody>
      </p:sp>
      <p:sp>
        <p:nvSpPr>
          <p:cNvPr id="21" name="seat-182"/>
          <p:cNvSpPr txBox="1"/>
          <p:nvPr/>
        </p:nvSpPr>
        <p:spPr>
          <a:xfrm>
            <a:off x="10927080" y="25146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8</a:t>
            </a:r>
            <a:endParaRPr lang="en-US" sz="1500" dirty="0"/>
          </a:p>
        </p:txBody>
      </p:sp>
      <p:sp>
        <p:nvSpPr>
          <p:cNvPr id="22" name="text-183"/>
          <p:cNvSpPr txBox="1"/>
          <p:nvPr/>
        </p:nvSpPr>
        <p:spPr>
          <a:xfrm>
            <a:off x="6217920" y="3200400"/>
            <a:ext cx="822960" cy="475488"/>
          </a:xfrm>
          <a:prstGeom prst="rect">
            <a:avLst/>
          </a:prstGeom>
          <a:noFill/>
          <a:ln/>
        </p:spPr>
        <p:txBody>
          <a:bodyPr wrap="square" lIns="0" tIns="0" rIns="0" bIns="0" rtlCol="0" anchor="ctr"/>
          <a:lstStyle/>
          <a:p>
            <a:pPr indent="0" marL="0">
              <a:buNone/>
            </a:pPr>
            <a:r>
              <a:rPr lang="en-US" sz="1700" b="1" dirty="0">
                <a:solidFill>
                  <a:schemeClr val="tx1"/>
                </a:solidFill>
              </a:rPr>
              <a:t>Dad</a:t>
            </a:r>
            <a:endParaRPr lang="en-US" sz="1700" dirty="0"/>
          </a:p>
        </p:txBody>
      </p:sp>
      <p:sp>
        <p:nvSpPr>
          <p:cNvPr id="23" name="seat-184"/>
          <p:cNvSpPr txBox="1"/>
          <p:nvPr/>
        </p:nvSpPr>
        <p:spPr>
          <a:xfrm>
            <a:off x="7086600" y="3200400"/>
            <a:ext cx="475488" cy="475488"/>
          </a:xfrm>
          <a:prstGeom prst="roundRect">
            <a:avLst>
              <a:gd name="adj" fmla="val 11538"/>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24" name="seat-185"/>
          <p:cNvSpPr txBox="1"/>
          <p:nvPr/>
        </p:nvSpPr>
        <p:spPr>
          <a:xfrm>
            <a:off x="7635240" y="3200400"/>
            <a:ext cx="475488" cy="475488"/>
          </a:xfrm>
          <a:prstGeom prst="roundRect">
            <a:avLst>
              <a:gd name="adj" fmla="val 11538"/>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5" name="seat-186"/>
          <p:cNvSpPr txBox="1"/>
          <p:nvPr/>
        </p:nvSpPr>
        <p:spPr>
          <a:xfrm>
            <a:off x="8183880" y="32004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4</a:t>
            </a:r>
            <a:endParaRPr lang="en-US" sz="1500" dirty="0"/>
          </a:p>
        </p:txBody>
      </p:sp>
      <p:sp>
        <p:nvSpPr>
          <p:cNvPr id="26" name="seat-187"/>
          <p:cNvSpPr txBox="1"/>
          <p:nvPr/>
        </p:nvSpPr>
        <p:spPr>
          <a:xfrm>
            <a:off x="8732520" y="3200400"/>
            <a:ext cx="475488" cy="475488"/>
          </a:xfrm>
          <a:prstGeom prst="roundRect">
            <a:avLst>
              <a:gd name="adj" fmla="val 11538"/>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7" name="seat-188"/>
          <p:cNvSpPr txBox="1"/>
          <p:nvPr/>
        </p:nvSpPr>
        <p:spPr>
          <a:xfrm>
            <a:off x="9281160" y="3200400"/>
            <a:ext cx="475488" cy="475488"/>
          </a:xfrm>
          <a:prstGeom prst="roundRect">
            <a:avLst>
              <a:gd name="adj" fmla="val 11538"/>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28" name="seat-189"/>
          <p:cNvSpPr txBox="1"/>
          <p:nvPr/>
        </p:nvSpPr>
        <p:spPr>
          <a:xfrm>
            <a:off x="9829800" y="32004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5</a:t>
            </a:r>
            <a:endParaRPr lang="en-US" sz="1500" dirty="0"/>
          </a:p>
        </p:txBody>
      </p:sp>
      <p:sp>
        <p:nvSpPr>
          <p:cNvPr id="29" name="seat-190"/>
          <p:cNvSpPr txBox="1"/>
          <p:nvPr/>
        </p:nvSpPr>
        <p:spPr>
          <a:xfrm>
            <a:off x="10378440" y="32004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3</a:t>
            </a:r>
            <a:endParaRPr lang="en-US" sz="1500" dirty="0"/>
          </a:p>
        </p:txBody>
      </p:sp>
      <p:sp>
        <p:nvSpPr>
          <p:cNvPr id="30" name="seat-191"/>
          <p:cNvSpPr txBox="1"/>
          <p:nvPr/>
        </p:nvSpPr>
        <p:spPr>
          <a:xfrm>
            <a:off x="10927080" y="3200400"/>
            <a:ext cx="475488" cy="475488"/>
          </a:xfrm>
          <a:prstGeom prst="roundRect">
            <a:avLst>
              <a:gd name="adj" fmla="val 11538"/>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31" name="text-192"/>
          <p:cNvSpPr txBox="1"/>
          <p:nvPr/>
        </p:nvSpPr>
        <p:spPr>
          <a:xfrm>
            <a:off x="6217920" y="3886200"/>
            <a:ext cx="822960" cy="475488"/>
          </a:xfrm>
          <a:prstGeom prst="rect">
            <a:avLst/>
          </a:prstGeom>
          <a:noFill/>
          <a:ln/>
        </p:spPr>
        <p:txBody>
          <a:bodyPr wrap="square" lIns="0" tIns="0" rIns="0" bIns="0" rtlCol="0" anchor="ctr"/>
          <a:lstStyle/>
          <a:p>
            <a:pPr indent="0" marL="0">
              <a:buNone/>
            </a:pPr>
            <a:r>
              <a:rPr lang="en-US" sz="1700" b="1" dirty="0">
                <a:solidFill>
                  <a:schemeClr val="tx1"/>
                </a:solidFill>
              </a:rPr>
              <a:t>Child</a:t>
            </a:r>
            <a:endParaRPr lang="en-US" sz="1700" dirty="0"/>
          </a:p>
        </p:txBody>
      </p:sp>
      <p:sp>
        <p:nvSpPr>
          <p:cNvPr id="32" name="seat-193"/>
          <p:cNvSpPr txBox="1"/>
          <p:nvPr/>
        </p:nvSpPr>
        <p:spPr>
          <a:xfrm>
            <a:off x="7086600" y="3886200"/>
            <a:ext cx="475488" cy="475488"/>
          </a:xfrm>
          <a:prstGeom prst="roundRect">
            <a:avLst>
              <a:gd name="adj" fmla="val 11538"/>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8</a:t>
            </a:r>
            <a:endParaRPr lang="en-US" sz="1500" dirty="0"/>
          </a:p>
        </p:txBody>
      </p:sp>
      <p:sp>
        <p:nvSpPr>
          <p:cNvPr id="33" name="seat-194"/>
          <p:cNvSpPr txBox="1"/>
          <p:nvPr/>
        </p:nvSpPr>
        <p:spPr>
          <a:xfrm>
            <a:off x="7635240" y="3886200"/>
            <a:ext cx="475488" cy="475488"/>
          </a:xfrm>
          <a:prstGeom prst="roundRect">
            <a:avLst>
              <a:gd name="adj" fmla="val 11538"/>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34" name="seat-195"/>
          <p:cNvSpPr txBox="1"/>
          <p:nvPr/>
        </p:nvSpPr>
        <p:spPr>
          <a:xfrm>
            <a:off x="8183880" y="3886200"/>
            <a:ext cx="475488" cy="475488"/>
          </a:xfrm>
          <a:prstGeom prst="roundRect">
            <a:avLst>
              <a:gd name="adj" fmla="val 11538"/>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3</a:t>
            </a:r>
            <a:endParaRPr lang="en-US" sz="1500" dirty="0"/>
          </a:p>
        </p:txBody>
      </p:sp>
      <p:sp>
        <p:nvSpPr>
          <p:cNvPr id="35" name="seat-196"/>
          <p:cNvSpPr txBox="1"/>
          <p:nvPr/>
        </p:nvSpPr>
        <p:spPr>
          <a:xfrm>
            <a:off x="8732520" y="3886200"/>
            <a:ext cx="475488" cy="475488"/>
          </a:xfrm>
          <a:prstGeom prst="roundRect">
            <a:avLst>
              <a:gd name="adj" fmla="val 11538"/>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4</a:t>
            </a:r>
            <a:endParaRPr lang="en-US" sz="1500" dirty="0"/>
          </a:p>
        </p:txBody>
      </p:sp>
      <p:sp>
        <p:nvSpPr>
          <p:cNvPr id="36" name="seat-197"/>
          <p:cNvSpPr txBox="1"/>
          <p:nvPr/>
        </p:nvSpPr>
        <p:spPr>
          <a:xfrm>
            <a:off x="9281160" y="3886200"/>
            <a:ext cx="475488" cy="475488"/>
          </a:xfrm>
          <a:prstGeom prst="roundRect">
            <a:avLst>
              <a:gd name="adj" fmla="val 11538"/>
            </a:avLst>
          </a:prstGeom>
          <a:solidFill>
            <a:schemeClr val="accent2"/>
          </a:solidFill>
          <a:ln w="12700">
            <a:solidFill>
              <a:schemeClr val="accent2"/>
            </a:solidFill>
          </a:ln>
        </p:spPr>
        <p:txBody>
          <a:bodyPr wrap="square" lIns="0" tIns="0" rIns="0" bIns="0" rtlCol="0" anchor="ctr"/>
          <a:lstStyle/>
          <a:p>
            <a:pPr algn="ctr" indent="0" marL="0">
              <a:buNone/>
            </a:pPr>
            <a:r>
              <a:rPr lang="en-US" sz="1500" b="1" dirty="0">
                <a:solidFill>
                  <a:schemeClr val="tx1"/>
                </a:solidFill>
              </a:rPr>
              <a:t>5</a:t>
            </a:r>
            <a:endParaRPr lang="en-US" sz="1500" dirty="0"/>
          </a:p>
        </p:txBody>
      </p:sp>
      <p:sp>
        <p:nvSpPr>
          <p:cNvPr id="37" name="seat-198"/>
          <p:cNvSpPr txBox="1"/>
          <p:nvPr/>
        </p:nvSpPr>
        <p:spPr>
          <a:xfrm>
            <a:off x="9829800" y="3886200"/>
            <a:ext cx="475488" cy="475488"/>
          </a:xfrm>
          <a:prstGeom prst="roundRect">
            <a:avLst>
              <a:gd name="adj" fmla="val 11538"/>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38" name="seat-199"/>
          <p:cNvSpPr txBox="1"/>
          <p:nvPr/>
        </p:nvSpPr>
        <p:spPr>
          <a:xfrm>
            <a:off x="10378440" y="3886200"/>
            <a:ext cx="475488" cy="475488"/>
          </a:xfrm>
          <a:prstGeom prst="roundRect">
            <a:avLst>
              <a:gd name="adj" fmla="val 11538"/>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39" name="seat-200"/>
          <p:cNvSpPr txBox="1"/>
          <p:nvPr/>
        </p:nvSpPr>
        <p:spPr>
          <a:xfrm>
            <a:off x="10927080" y="3886200"/>
            <a:ext cx="475488" cy="475488"/>
          </a:xfrm>
          <a:prstGeom prst="roundRect">
            <a:avLst>
              <a:gd name="adj" fmla="val 11538"/>
            </a:avLst>
          </a:prstGeom>
          <a:solidFill>
            <a:schemeClr val="accent3"/>
          </a:solidFill>
          <a:ln w="12700">
            <a:solidFill>
              <a:schemeClr val="accent3"/>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40" name="text-201"/>
          <p:cNvSpPr txBox="1"/>
          <p:nvPr/>
        </p:nvSpPr>
        <p:spPr>
          <a:xfrm>
            <a:off x="6217920" y="4617720"/>
            <a:ext cx="5212080" cy="132588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① Copy a block of seats from Mom</a:t>
            </a:r>
            <a:endParaRPr lang="en-US" sz="1500" dirty="0"/>
          </a:p>
          <a:p>
            <a:pPr indent="0" marL="0">
              <a:spcAft>
                <a:spcPts val="400"/>
              </a:spcAft>
              <a:buNone/>
            </a:pPr>
            <a:r>
              <a:rPr lang="en-US" sz="1500" dirty="0">
                <a:solidFill>
                  <a:schemeClr val="tx1"/>
                </a:solidFill>
              </a:rPr>
              <a:t>② Fill the empty seats with the other guests, in Dad's order</a:t>
            </a:r>
            <a:endParaRPr lang="en-US" sz="1500" dirty="0"/>
          </a:p>
          <a:p>
            <a:pPr indent="0" marL="0">
              <a:spcAft>
                <a:spcPts val="400"/>
              </a:spcAft>
              <a:buNone/>
            </a:pPr>
            <a:r>
              <a:rPr lang="en-US" sz="1500" b="1" dirty="0">
                <a:solidFill>
                  <a:schemeClr val="tx1"/>
                </a:solidFill>
              </a:rPr>
              <a:t>✅ No guest twice, no guest missing</a:t>
            </a:r>
            <a:endParaRPr lang="en-US" sz="15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Mutation, elitism and settings</a:t>
            </a:r>
            <a:endParaRPr lang="en-US" sz="3600" dirty="0"/>
          </a:p>
        </p:txBody>
      </p:sp>
      <p:sp>
        <p:nvSpPr>
          <p:cNvPr id="3" name="card-202"/>
          <p:cNvSpPr/>
          <p:nvPr/>
        </p:nvSpPr>
        <p:spPr>
          <a:xfrm>
            <a:off x="548640" y="1325880"/>
            <a:ext cx="6035040" cy="4754880"/>
          </a:xfrm>
          <a:prstGeom prst="roundRect">
            <a:avLst>
              <a:gd name="adj" fmla="val 2308"/>
            </a:avLst>
          </a:prstGeom>
          <a:solidFill>
            <a:schemeClr val="bg2"/>
          </a:solidFill>
          <a:ln w="12700">
            <a:solidFill>
              <a:schemeClr val="bg2"/>
            </a:solidFill>
            <a:prstDash val="solid"/>
          </a:ln>
        </p:spPr>
      </p:sp>
      <p:sp>
        <p:nvSpPr>
          <p:cNvPr id="4" name="emoji-203"/>
          <p:cNvSpPr txBox="1"/>
          <p:nvPr/>
        </p:nvSpPr>
        <p:spPr>
          <a:xfrm>
            <a:off x="777240" y="1554480"/>
            <a:ext cx="685800" cy="6858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5" name="text-204"/>
          <p:cNvSpPr txBox="1"/>
          <p:nvPr/>
        </p:nvSpPr>
        <p:spPr>
          <a:xfrm>
            <a:off x="1645920" y="1554480"/>
            <a:ext cx="4709160" cy="685800"/>
          </a:xfrm>
          <a:prstGeom prst="rect">
            <a:avLst/>
          </a:prstGeom>
          <a:noFill/>
          <a:ln/>
        </p:spPr>
        <p:txBody>
          <a:bodyPr wrap="square" lIns="0" tIns="0" rIns="0" bIns="0" rtlCol="0" anchor="ctr"/>
          <a:lstStyle/>
          <a:p>
            <a:pPr indent="0" marL="0">
              <a:buNone/>
            </a:pPr>
            <a:r>
              <a:rPr lang="en-US" sz="2100" b="1" dirty="0">
                <a:solidFill>
                  <a:schemeClr val="tx1"/>
                </a:solidFill>
              </a:rPr>
              <a:t>Mutation: swap two guests</a:t>
            </a:r>
            <a:endParaRPr lang="en-US" sz="2100" dirty="0"/>
          </a:p>
        </p:txBody>
      </p:sp>
      <p:sp>
        <p:nvSpPr>
          <p:cNvPr id="6" name="text-205"/>
          <p:cNvSpPr txBox="1"/>
          <p:nvPr/>
        </p:nvSpPr>
        <p:spPr>
          <a:xfrm>
            <a:off x="868680" y="2514600"/>
            <a:ext cx="914400" cy="475488"/>
          </a:xfrm>
          <a:prstGeom prst="rect">
            <a:avLst/>
          </a:prstGeom>
          <a:noFill/>
          <a:ln/>
        </p:spPr>
        <p:txBody>
          <a:bodyPr wrap="square" lIns="0" tIns="0" rIns="0" bIns="0" rtlCol="0" anchor="ctr"/>
          <a:lstStyle/>
          <a:p>
            <a:pPr indent="0" marL="0">
              <a:buNone/>
            </a:pPr>
            <a:r>
              <a:rPr lang="en-US" sz="1700" b="1" dirty="0">
                <a:solidFill>
                  <a:schemeClr val="tx1"/>
                </a:solidFill>
              </a:rPr>
              <a:t>Before</a:t>
            </a:r>
            <a:endParaRPr lang="en-US" sz="1700" dirty="0"/>
          </a:p>
        </p:txBody>
      </p:sp>
      <p:sp>
        <p:nvSpPr>
          <p:cNvPr id="7" name="seat-206"/>
          <p:cNvSpPr txBox="1"/>
          <p:nvPr/>
        </p:nvSpPr>
        <p:spPr>
          <a:xfrm>
            <a:off x="1828800" y="25146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8</a:t>
            </a:r>
            <a:endParaRPr lang="en-US" sz="1500" dirty="0"/>
          </a:p>
        </p:txBody>
      </p:sp>
      <p:sp>
        <p:nvSpPr>
          <p:cNvPr id="8" name="seat-207"/>
          <p:cNvSpPr txBox="1"/>
          <p:nvPr/>
        </p:nvSpPr>
        <p:spPr>
          <a:xfrm>
            <a:off x="2377440" y="2514600"/>
            <a:ext cx="475488" cy="475488"/>
          </a:xfrm>
          <a:prstGeom prst="roundRect">
            <a:avLst>
              <a:gd name="adj" fmla="val 11538"/>
            </a:avLst>
          </a:prstGeom>
          <a:solidFill>
            <a:schemeClr val="accent5"/>
          </a:solidFill>
          <a:ln w="12700">
            <a:solidFill>
              <a:schemeClr val="accent5"/>
            </a:solid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9" name="seat-208"/>
          <p:cNvSpPr txBox="1"/>
          <p:nvPr/>
        </p:nvSpPr>
        <p:spPr>
          <a:xfrm>
            <a:off x="2926080" y="25146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3</a:t>
            </a:r>
            <a:endParaRPr lang="en-US" sz="1500" dirty="0"/>
          </a:p>
        </p:txBody>
      </p:sp>
      <p:sp>
        <p:nvSpPr>
          <p:cNvPr id="10" name="seat-209"/>
          <p:cNvSpPr txBox="1"/>
          <p:nvPr/>
        </p:nvSpPr>
        <p:spPr>
          <a:xfrm>
            <a:off x="3474720" y="25146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4</a:t>
            </a:r>
            <a:endParaRPr lang="en-US" sz="1500" dirty="0"/>
          </a:p>
        </p:txBody>
      </p:sp>
      <p:sp>
        <p:nvSpPr>
          <p:cNvPr id="11" name="seat-210"/>
          <p:cNvSpPr txBox="1"/>
          <p:nvPr/>
        </p:nvSpPr>
        <p:spPr>
          <a:xfrm>
            <a:off x="4023360" y="25146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5</a:t>
            </a:r>
            <a:endParaRPr lang="en-US" sz="1500" dirty="0"/>
          </a:p>
        </p:txBody>
      </p:sp>
      <p:sp>
        <p:nvSpPr>
          <p:cNvPr id="12" name="seat-211"/>
          <p:cNvSpPr txBox="1"/>
          <p:nvPr/>
        </p:nvSpPr>
        <p:spPr>
          <a:xfrm>
            <a:off x="4572000" y="25146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2</a:t>
            </a:r>
            <a:endParaRPr lang="en-US" sz="1500" dirty="0"/>
          </a:p>
        </p:txBody>
      </p:sp>
      <p:sp>
        <p:nvSpPr>
          <p:cNvPr id="13" name="seat-212"/>
          <p:cNvSpPr txBox="1"/>
          <p:nvPr/>
        </p:nvSpPr>
        <p:spPr>
          <a:xfrm>
            <a:off x="5120640" y="2514600"/>
            <a:ext cx="475488" cy="475488"/>
          </a:xfrm>
          <a:prstGeom prst="roundRect">
            <a:avLst>
              <a:gd name="adj" fmla="val 11538"/>
            </a:avLst>
          </a:prstGeom>
          <a:solidFill>
            <a:schemeClr val="accent5"/>
          </a:solidFill>
          <a:ln w="12700">
            <a:solidFill>
              <a:schemeClr val="accent5"/>
            </a:solid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14" name="seat-213"/>
          <p:cNvSpPr txBox="1"/>
          <p:nvPr/>
        </p:nvSpPr>
        <p:spPr>
          <a:xfrm>
            <a:off x="5669280" y="25146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1</a:t>
            </a:r>
            <a:endParaRPr lang="en-US" sz="1500" dirty="0"/>
          </a:p>
        </p:txBody>
      </p:sp>
      <p:sp>
        <p:nvSpPr>
          <p:cNvPr id="15" name="text-214"/>
          <p:cNvSpPr txBox="1"/>
          <p:nvPr/>
        </p:nvSpPr>
        <p:spPr>
          <a:xfrm>
            <a:off x="868680" y="3200400"/>
            <a:ext cx="914400" cy="475488"/>
          </a:xfrm>
          <a:prstGeom prst="rect">
            <a:avLst/>
          </a:prstGeom>
          <a:noFill/>
          <a:ln/>
        </p:spPr>
        <p:txBody>
          <a:bodyPr wrap="square" lIns="0" tIns="0" rIns="0" bIns="0" rtlCol="0" anchor="ctr"/>
          <a:lstStyle/>
          <a:p>
            <a:pPr indent="0" marL="0">
              <a:buNone/>
            </a:pPr>
            <a:r>
              <a:rPr lang="en-US" sz="1700" b="1" dirty="0">
                <a:solidFill>
                  <a:schemeClr val="tx1"/>
                </a:solidFill>
              </a:rPr>
              <a:t>After</a:t>
            </a:r>
            <a:endParaRPr lang="en-US" sz="1700" dirty="0"/>
          </a:p>
        </p:txBody>
      </p:sp>
      <p:sp>
        <p:nvSpPr>
          <p:cNvPr id="16" name="seat-215"/>
          <p:cNvSpPr txBox="1"/>
          <p:nvPr/>
        </p:nvSpPr>
        <p:spPr>
          <a:xfrm>
            <a:off x="1828800" y="32004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8</a:t>
            </a:r>
            <a:endParaRPr lang="en-US" sz="1500" dirty="0"/>
          </a:p>
        </p:txBody>
      </p:sp>
      <p:sp>
        <p:nvSpPr>
          <p:cNvPr id="17" name="seat-216"/>
          <p:cNvSpPr txBox="1"/>
          <p:nvPr/>
        </p:nvSpPr>
        <p:spPr>
          <a:xfrm>
            <a:off x="2377440" y="3200400"/>
            <a:ext cx="475488" cy="475488"/>
          </a:xfrm>
          <a:prstGeom prst="roundRect">
            <a:avLst>
              <a:gd name="adj" fmla="val 11538"/>
            </a:avLst>
          </a:prstGeom>
          <a:solidFill>
            <a:schemeClr val="accent5"/>
          </a:solidFill>
          <a:ln w="12700">
            <a:solidFill>
              <a:schemeClr val="accent5"/>
            </a:solidFill>
          </a:ln>
        </p:spPr>
        <p:txBody>
          <a:bodyPr wrap="square" lIns="0" tIns="0" rIns="0" bIns="0" rtlCol="0" anchor="ctr"/>
          <a:lstStyle/>
          <a:p>
            <a:pPr algn="ctr" indent="0" marL="0">
              <a:buNone/>
            </a:pPr>
            <a:r>
              <a:rPr lang="en-US" sz="1500" b="1" dirty="0">
                <a:solidFill>
                  <a:schemeClr val="bg1"/>
                </a:solidFill>
              </a:rPr>
              <a:t>7</a:t>
            </a:r>
            <a:endParaRPr lang="en-US" sz="1500" dirty="0"/>
          </a:p>
        </p:txBody>
      </p:sp>
      <p:sp>
        <p:nvSpPr>
          <p:cNvPr id="18" name="seat-217"/>
          <p:cNvSpPr txBox="1"/>
          <p:nvPr/>
        </p:nvSpPr>
        <p:spPr>
          <a:xfrm>
            <a:off x="2926080" y="32004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3</a:t>
            </a:r>
            <a:endParaRPr lang="en-US" sz="1500" dirty="0"/>
          </a:p>
        </p:txBody>
      </p:sp>
      <p:sp>
        <p:nvSpPr>
          <p:cNvPr id="19" name="seat-218"/>
          <p:cNvSpPr txBox="1"/>
          <p:nvPr/>
        </p:nvSpPr>
        <p:spPr>
          <a:xfrm>
            <a:off x="3474720" y="32004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4</a:t>
            </a:r>
            <a:endParaRPr lang="en-US" sz="1500" dirty="0"/>
          </a:p>
        </p:txBody>
      </p:sp>
      <p:sp>
        <p:nvSpPr>
          <p:cNvPr id="20" name="seat-219"/>
          <p:cNvSpPr txBox="1"/>
          <p:nvPr/>
        </p:nvSpPr>
        <p:spPr>
          <a:xfrm>
            <a:off x="4023360" y="32004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5</a:t>
            </a:r>
            <a:endParaRPr lang="en-US" sz="1500" dirty="0"/>
          </a:p>
        </p:txBody>
      </p:sp>
      <p:sp>
        <p:nvSpPr>
          <p:cNvPr id="21" name="seat-220"/>
          <p:cNvSpPr txBox="1"/>
          <p:nvPr/>
        </p:nvSpPr>
        <p:spPr>
          <a:xfrm>
            <a:off x="4572000" y="32004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2</a:t>
            </a:r>
            <a:endParaRPr lang="en-US" sz="1500" dirty="0"/>
          </a:p>
        </p:txBody>
      </p:sp>
      <p:sp>
        <p:nvSpPr>
          <p:cNvPr id="22" name="seat-221"/>
          <p:cNvSpPr txBox="1"/>
          <p:nvPr/>
        </p:nvSpPr>
        <p:spPr>
          <a:xfrm>
            <a:off x="5120640" y="3200400"/>
            <a:ext cx="475488" cy="475488"/>
          </a:xfrm>
          <a:prstGeom prst="roundRect">
            <a:avLst>
              <a:gd name="adj" fmla="val 11538"/>
            </a:avLst>
          </a:prstGeom>
          <a:solidFill>
            <a:schemeClr val="accent5"/>
          </a:solidFill>
          <a:ln w="12700">
            <a:solidFill>
              <a:schemeClr val="accent5"/>
            </a:solid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23" name="seat-222"/>
          <p:cNvSpPr txBox="1"/>
          <p:nvPr/>
        </p:nvSpPr>
        <p:spPr>
          <a:xfrm>
            <a:off x="5669280" y="3200400"/>
            <a:ext cx="475488" cy="475488"/>
          </a:xfrm>
          <a:prstGeom prst="roundRect">
            <a:avLst>
              <a:gd name="adj" fmla="val 11538"/>
            </a:avLst>
          </a:prstGeom>
          <a:solidFill>
            <a:schemeClr val="bg1"/>
          </a:solidFill>
          <a:ln w="12700">
            <a:solidFill>
              <a:srgbClr val="E5DADD"/>
            </a:solidFill>
          </a:ln>
        </p:spPr>
        <p:txBody>
          <a:bodyPr wrap="square" lIns="0" tIns="0" rIns="0" bIns="0" rtlCol="0" anchor="ctr"/>
          <a:lstStyle/>
          <a:p>
            <a:pPr algn="ctr" indent="0" marL="0">
              <a:buNone/>
            </a:pPr>
            <a:r>
              <a:rPr lang="en-US" sz="1500" b="1" dirty="0">
                <a:solidFill>
                  <a:schemeClr val="accent6"/>
                </a:solidFill>
              </a:rPr>
              <a:t>1</a:t>
            </a:r>
            <a:endParaRPr lang="en-US" sz="1500" dirty="0"/>
          </a:p>
        </p:txBody>
      </p:sp>
      <p:sp>
        <p:nvSpPr>
          <p:cNvPr id="24" name="text-223"/>
          <p:cNvSpPr txBox="1"/>
          <p:nvPr/>
        </p:nvSpPr>
        <p:spPr>
          <a:xfrm>
            <a:off x="868680" y="3931920"/>
            <a:ext cx="5486400" cy="914400"/>
          </a:xfrm>
          <a:prstGeom prst="rect">
            <a:avLst/>
          </a:prstGeom>
          <a:noFill/>
          <a:ln/>
        </p:spPr>
        <p:txBody>
          <a:bodyPr wrap="square" lIns="0" tIns="0" rIns="0" bIns="0" rtlCol="0" anchor="t"/>
          <a:lstStyle/>
          <a:p>
            <a:pPr indent="0" marL="0">
              <a:spcAft>
                <a:spcPts val="400"/>
              </a:spcAft>
              <a:buNone/>
            </a:pPr>
            <a:r>
              <a:rPr lang="en-US" sz="1600" dirty="0">
                <a:solidFill>
                  <a:schemeClr val="tx1"/>
                </a:solidFill>
              </a:rPr>
              <a:t>Uncle Bakyt after a mutation:</a:t>
            </a:r>
            <a:endParaRPr lang="en-US" sz="1600" dirty="0"/>
          </a:p>
          <a:p>
            <a:pPr indent="0" marL="0">
              <a:spcAft>
                <a:spcPts val="400"/>
              </a:spcAft>
              <a:buNone/>
            </a:pPr>
            <a:r>
              <a:rPr lang="en-US" sz="2000" b="1" dirty="0">
                <a:solidFill>
                  <a:schemeClr val="accent1"/>
                </a:solidFill>
              </a:rPr>
              <a:t>“Why am I at the kids' table?” 🤨</a:t>
            </a:r>
            <a:endParaRPr lang="en-US" sz="1600" dirty="0"/>
          </a:p>
        </p:txBody>
      </p:sp>
      <p:sp>
        <p:nvSpPr>
          <p:cNvPr id="25" name="text-224"/>
          <p:cNvSpPr txBox="1"/>
          <p:nvPr/>
        </p:nvSpPr>
        <p:spPr>
          <a:xfrm>
            <a:off x="868680" y="4983480"/>
            <a:ext cx="5486400" cy="914400"/>
          </a:xfrm>
          <a:prstGeom prst="rect">
            <a:avLst/>
          </a:prstGeom>
          <a:noFill/>
          <a:ln/>
        </p:spPr>
        <p:txBody>
          <a:bodyPr wrap="square" lIns="0" tIns="0" rIns="0" bIns="0" rtlCol="0" anchor="t"/>
          <a:lstStyle/>
          <a:p>
            <a:pPr indent="0" marL="0">
              <a:buNone/>
            </a:pPr>
            <a:r>
              <a:rPr lang="en-US" sz="1600" dirty="0">
                <a:solidFill>
                  <a:schemeClr val="tx1"/>
                </a:solidFill>
              </a:rPr>
              <a:t>👑 Elitism: the 2 best plans go to the next generation unchanged, so the best happiness never goes down.</a:t>
            </a:r>
            <a:endParaRPr lang="en-US" sz="1600" dirty="0"/>
          </a:p>
        </p:txBody>
      </p:sp>
      <p:graphicFrame>
        <p:nvGraphicFramePr>
          <p:cNvPr id="12" name="table-225"/>
          <p:cNvGraphicFramePr>
            <a:graphicFrameLocks noGrp="1"/>
          </p:cNvGraphicFramePr>
          <p:nvPr>
            <p:extLst>
              <p:ext uri="{D42A27DB-BD31-4B8C-83A1-F6EECF244321}">
                <p14:modId xmlns:p14="http://schemas.microsoft.com/office/powerpoint/2010/main" val="1579011935"/>
              </p:ext>
            </p:extLst>
          </p:nvPr>
        </p:nvGraphicFramePr>
        <p:xfrm>
          <a:off x="6858000" y="1325880"/>
          <a:ext cx="4754880" cy="914400"/>
        </p:xfrm>
        <a:graphic>
          <a:graphicData uri="http://schemas.openxmlformats.org/drawingml/2006/table">
            <a:tbl>
              <a:tblPr/>
              <a:tblGrid>
                <a:gridCol w="2743200"/>
                <a:gridCol w="2011680"/>
              </a:tblGrid>
              <a:tr h="530352">
                <a:tc>
                  <a:txBody>
                    <a:bodyPr/>
                    <a:lstStyle/>
                    <a:p>
                      <a:pPr indent="0" marL="0">
                        <a:buNone/>
                      </a:pPr>
                      <a:r>
                        <a:rPr lang="en-US" sz="1700" b="1" dirty="0">
                          <a:solidFill>
                            <a:schemeClr val="bg1"/>
                          </a:solidFill>
                        </a:rPr>
                        <a:t>Setting</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tx2"/>
                    </a:solidFill>
                  </a:tcPr>
                </a:tc>
                <a:tc>
                  <a:txBody>
                    <a:bodyPr/>
                    <a:lstStyle/>
                    <a:p>
                      <a:pPr indent="0" marL="0">
                        <a:buNone/>
                      </a:pPr>
                      <a:r>
                        <a:rPr lang="en-US" sz="1700" b="1" dirty="0">
                          <a:solidFill>
                            <a:schemeClr val="bg1"/>
                          </a:solidFill>
                        </a:rPr>
                        <a:t>Value</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tx2"/>
                    </a:solidFill>
                  </a:tcPr>
                </a:tc>
              </a:tr>
              <a:tr h="530352">
                <a:tc>
                  <a:txBody>
                    <a:bodyPr/>
                    <a:lstStyle/>
                    <a:p>
                      <a:pPr indent="0" marL="0">
                        <a:buNone/>
                      </a:pPr>
                      <a:r>
                        <a:rPr lang="en-US" sz="1700" dirty="0">
                          <a:solidFill>
                            <a:schemeClr val="tx1"/>
                          </a:solidFill>
                        </a:rPr>
                        <a:t>Population size</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100 plans</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r>
              <a:tr h="530352">
                <a:tc>
                  <a:txBody>
                    <a:bodyPr/>
                    <a:lstStyle/>
                    <a:p>
                      <a:pPr indent="0" marL="0">
                        <a:buNone/>
                      </a:pPr>
                      <a:r>
                        <a:rPr lang="en-US" sz="1700" dirty="0">
                          <a:solidFill>
                            <a:schemeClr val="tx1"/>
                          </a:solidFill>
                        </a:rPr>
                        <a:t>Generations</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1000</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r>
              <a:tr h="530352">
                <a:tc>
                  <a:txBody>
                    <a:bodyPr/>
                    <a:lstStyle/>
                    <a:p>
                      <a:pPr indent="0" marL="0">
                        <a:buNone/>
                      </a:pPr>
                      <a:r>
                        <a:rPr lang="en-US" sz="1700" dirty="0">
                          <a:solidFill>
                            <a:schemeClr val="tx1"/>
                          </a:solidFill>
                        </a:rPr>
                        <a:t>Tournament size</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3</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r>
              <a:tr h="530352">
                <a:tc>
                  <a:txBody>
                    <a:bodyPr/>
                    <a:lstStyle/>
                    <a:p>
                      <a:pPr indent="0" marL="0">
                        <a:buNone/>
                      </a:pPr>
                      <a:r>
                        <a:rPr lang="en-US" sz="1700" dirty="0">
                          <a:solidFill>
                            <a:schemeClr val="tx1"/>
                          </a:solidFill>
                        </a:rPr>
                        <a:t>Crossover rate</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90%</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r>
              <a:tr h="530352">
                <a:tc>
                  <a:txBody>
                    <a:bodyPr/>
                    <a:lstStyle/>
                    <a:p>
                      <a:pPr indent="0" marL="0">
                        <a:buNone/>
                      </a:pPr>
                      <a:r>
                        <a:rPr lang="en-US" sz="1700" dirty="0">
                          <a:solidFill>
                            <a:schemeClr val="tx1"/>
                          </a:solidFill>
                        </a:rPr>
                        <a:t>Mutation rate</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c>
                  <a:txBody>
                    <a:bodyPr/>
                    <a:lstStyle/>
                    <a:p>
                      <a:pPr indent="0" marL="0">
                        <a:buNone/>
                      </a:pPr>
                      <a:r>
                        <a:rPr lang="en-US" sz="1700" dirty="0">
                          <a:solidFill>
                            <a:schemeClr val="tx1"/>
                          </a:solidFill>
                        </a:rPr>
                        <a:t>30%</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r>
              <a:tr h="530352">
                <a:tc>
                  <a:txBody>
                    <a:bodyPr/>
                    <a:lstStyle/>
                    <a:p>
                      <a:pPr indent="0" marL="0">
                        <a:buNone/>
                      </a:pPr>
                      <a:r>
                        <a:rPr lang="en-US" sz="1700" dirty="0">
                          <a:solidFill>
                            <a:schemeClr val="tx1"/>
                          </a:solidFill>
                        </a:rPr>
                        <a:t>Elite plans</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c>
                  <a:txBody>
                    <a:bodyPr/>
                    <a:lstStyle/>
                    <a:p>
                      <a:pPr indent="0" marL="0">
                        <a:buNone/>
                      </a:pPr>
                      <a:r>
                        <a:rPr lang="en-US" sz="1700" dirty="0">
                          <a:solidFill>
                            <a:schemeClr val="tx1"/>
                          </a:solidFill>
                        </a:rPr>
                        <a:t>2</a:t>
                      </a:r>
                      <a:endParaRPr lang="en-US" sz="17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r>
            </a:tbl>
          </a:graphicData>
        </a:graphic>
      </p:graphicFrame>
      <p:sp>
        <p:nvSpPr>
          <p:cNvPr id="27" name="text-226"/>
          <p:cNvSpPr txBox="1"/>
          <p:nvPr/>
        </p:nvSpPr>
        <p:spPr>
          <a:xfrm>
            <a:off x="6858000" y="5257800"/>
            <a:ext cx="4754880" cy="731520"/>
          </a:xfrm>
          <a:prstGeom prst="rect">
            <a:avLst/>
          </a:prstGeom>
          <a:noFill/>
          <a:ln/>
        </p:spPr>
        <p:txBody>
          <a:bodyPr wrap="square" lIns="0" tIns="0" rIns="0" bIns="0" rtlCol="0" anchor="t"/>
          <a:lstStyle/>
          <a:p>
            <a:pPr indent="0" marL="0">
              <a:buNone/>
            </a:pPr>
            <a:r>
              <a:rPr lang="en-US" sz="1500" i="1" dirty="0">
                <a:solidFill>
                  <a:schemeClr val="accent6"/>
                </a:solidFill>
              </a:rPr>
              <a:t>All settings live at the top of toi_seating.py, so you can change them and re-run.</a:t>
            </a:r>
            <a:endParaRPr lang="en-US" sz="15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The whole algorithm in pseudocode</a:t>
            </a:r>
            <a:endParaRPr lang="en-US" sz="3600" dirty="0"/>
          </a:p>
        </p:txBody>
      </p:sp>
      <p:sp>
        <p:nvSpPr>
          <p:cNvPr id="3" name="card-227"/>
          <p:cNvSpPr/>
          <p:nvPr/>
        </p:nvSpPr>
        <p:spPr>
          <a:xfrm>
            <a:off x="548640" y="1325880"/>
            <a:ext cx="7589520" cy="4754880"/>
          </a:xfrm>
          <a:prstGeom prst="roundRect">
            <a:avLst>
              <a:gd name="adj" fmla="val 2308"/>
            </a:avLst>
          </a:prstGeom>
          <a:solidFill>
            <a:schemeClr val="tx1"/>
          </a:solidFill>
          <a:ln w="12700">
            <a:solidFill>
              <a:schemeClr val="tx1"/>
            </a:solidFill>
            <a:prstDash val="solid"/>
          </a:ln>
        </p:spPr>
      </p:sp>
      <p:sp>
        <p:nvSpPr>
          <p:cNvPr id="4" name="text-228"/>
          <p:cNvSpPr txBox="1"/>
          <p:nvPr/>
        </p:nvSpPr>
        <p:spPr>
          <a:xfrm>
            <a:off x="822960" y="1554480"/>
            <a:ext cx="7132320" cy="4297680"/>
          </a:xfrm>
          <a:prstGeom prst="rect">
            <a:avLst/>
          </a:prstGeom>
          <a:noFill/>
          <a:ln/>
        </p:spPr>
        <p:txBody>
          <a:bodyPr wrap="square" lIns="0" tIns="0" rIns="0" bIns="0" rtlCol="0" anchor="ctr"/>
          <a:lstStyle/>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population ← 100 random seating plans</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repeat 1000 generations:</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score every plan with happiness()</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next ← 2 best plans                  </a:t>
            </a:r>
            <a:pPr indent="0" marL="0">
              <a:spcAft>
                <a:spcPts val="400"/>
              </a:spcAft>
              <a:buNone/>
            </a:pPr>
            <a:r>
              <a:rPr lang="en-US" sz="1500" dirty="0">
                <a:solidFill>
                  <a:schemeClr val="accent2"/>
                </a:solidFill>
                <a:latin typeface="Courier New" pitchFamily="34" charset="0"/>
                <a:ea typeface="Courier New" pitchFamily="34" charset="-122"/>
                <a:cs typeface="Courier New" pitchFamily="34" charset="-120"/>
              </a:rPr>
              <a:t># elitism</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while next has fewer than 100 plans:</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mom ← tournament(population)     </a:t>
            </a:r>
            <a:pPr indent="0" marL="0">
              <a:spcAft>
                <a:spcPts val="400"/>
              </a:spcAft>
              <a:buNone/>
            </a:pPr>
            <a:r>
              <a:rPr lang="en-US" sz="1500" dirty="0">
                <a:solidFill>
                  <a:schemeClr val="accent2"/>
                </a:solidFill>
                <a:latin typeface="Courier New" pitchFamily="34" charset="0"/>
                <a:ea typeface="Courier New" pitchFamily="34" charset="-122"/>
                <a:cs typeface="Courier New" pitchFamily="34" charset="-120"/>
              </a:rPr>
              <a:t># best of 3</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dad ← tournament(population)</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child ← crossover(mom, dad)      </a:t>
            </a:r>
            <a:pPr indent="0" marL="0">
              <a:spcAft>
                <a:spcPts val="400"/>
              </a:spcAft>
              <a:buNone/>
            </a:pPr>
            <a:r>
              <a:rPr lang="en-US" sz="1500" dirty="0">
                <a:solidFill>
                  <a:schemeClr val="accent2"/>
                </a:solidFill>
                <a:latin typeface="Courier New" pitchFamily="34" charset="0"/>
                <a:ea typeface="Courier New" pitchFamily="34" charset="-122"/>
                <a:cs typeface="Courier New" pitchFamily="34" charset="-120"/>
              </a:rPr>
              <a:t># 90% chance</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swap two guests in child         </a:t>
            </a:r>
            <a:pPr indent="0" marL="0">
              <a:spcAft>
                <a:spcPts val="400"/>
              </a:spcAft>
              <a:buNone/>
            </a:pPr>
            <a:r>
              <a:rPr lang="en-US" sz="1500" dirty="0">
                <a:solidFill>
                  <a:schemeClr val="accent2"/>
                </a:solidFill>
                <a:latin typeface="Courier New" pitchFamily="34" charset="0"/>
                <a:ea typeface="Courier New" pitchFamily="34" charset="-122"/>
                <a:cs typeface="Courier New" pitchFamily="34" charset="-120"/>
              </a:rPr>
              <a:t># 30% chance</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add child to next</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    population ← next</a:t>
            </a:r>
            <a:endParaRPr lang="en-US" sz="1500" dirty="0"/>
          </a:p>
          <a:p>
            <a:pPr indent="0" marL="0">
              <a:spcAft>
                <a:spcPts val="400"/>
              </a:spcAft>
              <a:buNone/>
            </a:pPr>
            <a:r>
              <a:rPr lang="en-US" sz="1500" dirty="0">
                <a:solidFill>
                  <a:schemeClr val="bg1"/>
                </a:solidFill>
                <a:latin typeface="Courier New" pitchFamily="34" charset="0"/>
                <a:ea typeface="Courier New" pitchFamily="34" charset="-122"/>
                <a:cs typeface="Courier New" pitchFamily="34" charset="-120"/>
              </a:rPr>
              <a:t>return the happiest plan</a:t>
            </a:r>
            <a:endParaRPr lang="en-US" sz="1500" dirty="0"/>
          </a:p>
        </p:txBody>
      </p:sp>
      <p:sp>
        <p:nvSpPr>
          <p:cNvPr id="5" name="card-229"/>
          <p:cNvSpPr/>
          <p:nvPr/>
        </p:nvSpPr>
        <p:spPr>
          <a:xfrm>
            <a:off x="8412480" y="1325880"/>
            <a:ext cx="3200400" cy="4754880"/>
          </a:xfrm>
          <a:prstGeom prst="roundRect">
            <a:avLst>
              <a:gd name="adj" fmla="val 3429"/>
            </a:avLst>
          </a:prstGeom>
          <a:solidFill>
            <a:schemeClr val="bg2"/>
          </a:solidFill>
          <a:ln w="12700">
            <a:solidFill>
              <a:schemeClr val="bg2"/>
            </a:solidFill>
            <a:prstDash val="solid"/>
          </a:ln>
        </p:spPr>
      </p:sp>
      <p:sp>
        <p:nvSpPr>
          <p:cNvPr id="6" name="emoji-230"/>
          <p:cNvSpPr txBox="1"/>
          <p:nvPr/>
        </p:nvSpPr>
        <p:spPr>
          <a:xfrm>
            <a:off x="8641080" y="1600200"/>
            <a:ext cx="822960" cy="82296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900" dirty="0">
                <a:solidFill>
                  <a:srgbClr val="000000"/>
                </a:solidFill>
                <a:latin typeface="Segoe UI Emoji" pitchFamily="34" charset="0"/>
                <a:ea typeface="Segoe UI Emoji" pitchFamily="34" charset="-122"/>
                <a:cs typeface="Segoe UI Emoji" pitchFamily="34" charset="-120"/>
              </a:rPr>
              <a:t>🤏</a:t>
            </a:r>
            <a:endParaRPr lang="en-US" sz="2900" dirty="0"/>
          </a:p>
        </p:txBody>
      </p:sp>
      <p:sp>
        <p:nvSpPr>
          <p:cNvPr id="7" name="text-231"/>
          <p:cNvSpPr txBox="1"/>
          <p:nvPr/>
        </p:nvSpPr>
        <p:spPr>
          <a:xfrm>
            <a:off x="8641080" y="2606040"/>
            <a:ext cx="2743200" cy="502920"/>
          </a:xfrm>
          <a:prstGeom prst="rect">
            <a:avLst/>
          </a:prstGeom>
          <a:noFill/>
          <a:ln/>
        </p:spPr>
        <p:txBody>
          <a:bodyPr wrap="square" lIns="0" tIns="0" rIns="0" bIns="0" rtlCol="0" anchor="t"/>
          <a:lstStyle/>
          <a:p>
            <a:pPr indent="0" marL="0">
              <a:buNone/>
            </a:pPr>
            <a:r>
              <a:rPr lang="en-US" sz="2200" b="1" dirty="0">
                <a:solidFill>
                  <a:schemeClr val="tx1"/>
                </a:solidFill>
              </a:rPr>
              <a:t>That's it!</a:t>
            </a:r>
            <a:endParaRPr lang="en-US" sz="2200" dirty="0"/>
          </a:p>
        </p:txBody>
      </p:sp>
      <p:sp>
        <p:nvSpPr>
          <p:cNvPr id="8" name="text-232"/>
          <p:cNvSpPr txBox="1"/>
          <p:nvPr/>
        </p:nvSpPr>
        <p:spPr>
          <a:xfrm>
            <a:off x="8641080" y="3154680"/>
            <a:ext cx="2743200" cy="1188720"/>
          </a:xfrm>
          <a:prstGeom prst="rect">
            <a:avLst/>
          </a:prstGeom>
          <a:noFill/>
          <a:ln/>
        </p:spPr>
        <p:txBody>
          <a:bodyPr wrap="square" lIns="0" tIns="0" rIns="0" bIns="0" rtlCol="0" anchor="t"/>
          <a:lstStyle/>
          <a:p>
            <a:pPr indent="0" marL="0">
              <a:buNone/>
            </a:pPr>
            <a:r>
              <a:rPr lang="en-US" sz="1600" dirty="0">
                <a:solidFill>
                  <a:schemeClr val="tx1"/>
                </a:solidFill>
              </a:rPr>
              <a:t>The GA part of toi_seating.py is about 40 lines of Python.</a:t>
            </a:r>
            <a:endParaRPr lang="en-US" sz="1600" dirty="0"/>
          </a:p>
        </p:txBody>
      </p:sp>
      <p:sp>
        <p:nvSpPr>
          <p:cNvPr id="9" name="text-233"/>
          <p:cNvSpPr txBox="1"/>
          <p:nvPr/>
        </p:nvSpPr>
        <p:spPr>
          <a:xfrm>
            <a:off x="8641080" y="4572000"/>
            <a:ext cx="2743200" cy="1188720"/>
          </a:xfrm>
          <a:prstGeom prst="rect">
            <a:avLst/>
          </a:prstGeom>
          <a:noFill/>
          <a:ln/>
        </p:spPr>
        <p:txBody>
          <a:bodyPr wrap="square" lIns="0" tIns="0" rIns="0" bIns="0" rtlCol="0" anchor="t"/>
          <a:lstStyle/>
          <a:p>
            <a:pPr indent="0" marL="0">
              <a:buNone/>
            </a:pPr>
            <a:r>
              <a:rPr lang="en-US" sz="1400" dirty="0">
                <a:solidFill>
                  <a:schemeClr val="tx1"/>
                </a:solidFill>
              </a:rPr>
              <a:t>Code + README on GitHub:</a:t>
            </a:r>
            <a:endParaRPr lang="en-US" sz="1400" dirty="0"/>
          </a:p>
          <a:p>
            <a:pPr indent="0" marL="0">
              <a:buNone/>
            </a:pPr>
            <a:r>
              <a:rPr lang="en-US" sz="140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iamthefamous/presentation</a:t>
            </a:r>
            <a:endParaRPr lang="en-US" sz="14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Evolution in action</a:t>
            </a:r>
            <a:endParaRPr lang="en-US" sz="3600" dirty="0"/>
          </a:p>
        </p:txBody>
      </p:sp>
      <p:graphicFrame>
        <p:nvGraphicFramePr>
          <p:cNvPr id="3" name="chart-234" descr=""/>
          <p:cNvGraphicFramePr/>
          <p:nvPr/>
        </p:nvGraphicFramePr>
        <p:xfrm>
          <a:off x="548640" y="1325880"/>
          <a:ext cx="7498080" cy="4754880"/>
        </p:xfrm>
        <a:graphic xmlns:a="http://schemas.openxmlformats.org/drawingml/2006/main">
          <a:graphicData uri="http://schemas.openxmlformats.org/drawingml/2006/chart">
            <c:chart xmlns:c="http://schemas.openxmlformats.org/drawingml/2006/chart" r:id="rId1"/>
          </a:graphicData>
        </a:graphic>
      </p:graphicFrame>
      <p:sp>
        <p:nvSpPr>
          <p:cNvPr id="4" name="card-235"/>
          <p:cNvSpPr/>
          <p:nvPr/>
        </p:nvSpPr>
        <p:spPr>
          <a:xfrm>
            <a:off x="8321040" y="1325880"/>
            <a:ext cx="3291840" cy="1463040"/>
          </a:xfrm>
          <a:prstGeom prst="roundRect">
            <a:avLst>
              <a:gd name="adj" fmla="val 7500"/>
            </a:avLst>
          </a:prstGeom>
          <a:solidFill>
            <a:schemeClr val="bg2"/>
          </a:solidFill>
          <a:ln w="12700">
            <a:solidFill>
              <a:schemeClr val="bg2"/>
            </a:solidFill>
            <a:prstDash val="solid"/>
          </a:ln>
        </p:spPr>
      </p:sp>
      <p:sp>
        <p:nvSpPr>
          <p:cNvPr id="5" name="emoji-236"/>
          <p:cNvSpPr txBox="1"/>
          <p:nvPr/>
        </p:nvSpPr>
        <p:spPr>
          <a:xfrm>
            <a:off x="8503920" y="1554480"/>
            <a:ext cx="640080" cy="64008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6" name="text-237"/>
          <p:cNvSpPr txBox="1"/>
          <p:nvPr/>
        </p:nvSpPr>
        <p:spPr>
          <a:xfrm>
            <a:off x="9281160" y="15087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Generation 0</a:t>
            </a:r>
            <a:endParaRPr lang="en-US" sz="1700" dirty="0"/>
          </a:p>
        </p:txBody>
      </p:sp>
      <p:sp>
        <p:nvSpPr>
          <p:cNvPr id="7" name="text-238"/>
          <p:cNvSpPr txBox="1"/>
          <p:nvPr/>
        </p:nvSpPr>
        <p:spPr>
          <a:xfrm>
            <a:off x="9281160" y="1892808"/>
            <a:ext cx="2194560" cy="777240"/>
          </a:xfrm>
          <a:prstGeom prst="rect">
            <a:avLst/>
          </a:prstGeom>
          <a:noFill/>
          <a:ln/>
        </p:spPr>
        <p:txBody>
          <a:bodyPr wrap="square" lIns="0" tIns="0" rIns="0" bIns="0" rtlCol="0" anchor="t"/>
          <a:lstStyle/>
          <a:p>
            <a:pPr indent="0" marL="0">
              <a:buNone/>
            </a:pPr>
            <a:r>
              <a:rPr lang="en-US" sz="1400" dirty="0">
                <a:solidFill>
                  <a:schemeClr val="tx1"/>
                </a:solidFill>
              </a:rPr>
              <a:t>Best plan: 515 happiness. “This is fine.” 🐶☕</a:t>
            </a:r>
            <a:endParaRPr lang="en-US" sz="1400" dirty="0"/>
          </a:p>
        </p:txBody>
      </p:sp>
      <p:sp>
        <p:nvSpPr>
          <p:cNvPr id="8" name="card-239"/>
          <p:cNvSpPr/>
          <p:nvPr/>
        </p:nvSpPr>
        <p:spPr>
          <a:xfrm>
            <a:off x="8321040" y="2971800"/>
            <a:ext cx="3291840" cy="1463040"/>
          </a:xfrm>
          <a:prstGeom prst="roundRect">
            <a:avLst>
              <a:gd name="adj" fmla="val 7500"/>
            </a:avLst>
          </a:prstGeom>
          <a:solidFill>
            <a:schemeClr val="bg2"/>
          </a:solidFill>
          <a:ln w="12700">
            <a:solidFill>
              <a:schemeClr val="bg2"/>
            </a:solidFill>
            <a:prstDash val="solid"/>
          </a:ln>
        </p:spPr>
      </p:sp>
      <p:sp>
        <p:nvSpPr>
          <p:cNvPr id="9" name="emoji-240"/>
          <p:cNvSpPr txBox="1"/>
          <p:nvPr/>
        </p:nvSpPr>
        <p:spPr>
          <a:xfrm>
            <a:off x="8503920" y="3200400"/>
            <a:ext cx="640080" cy="64008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10" name="text-241"/>
          <p:cNvSpPr txBox="1"/>
          <p:nvPr/>
        </p:nvSpPr>
        <p:spPr>
          <a:xfrm>
            <a:off x="9281160" y="3154680"/>
            <a:ext cx="2194560" cy="365760"/>
          </a:xfrm>
          <a:prstGeom prst="rect">
            <a:avLst/>
          </a:prstGeom>
          <a:noFill/>
          <a:ln/>
        </p:spPr>
        <p:txBody>
          <a:bodyPr wrap="square" lIns="0" tIns="0" rIns="0" bIns="0" rtlCol="0" anchor="t"/>
          <a:lstStyle/>
          <a:p>
            <a:pPr indent="0" marL="0">
              <a:buNone/>
            </a:pPr>
            <a:r>
              <a:rPr lang="en-US" sz="1700" b="1" dirty="0">
                <a:solidFill>
                  <a:schemeClr val="tx1"/>
                </a:solidFill>
              </a:rPr>
              <a:t>Generation 6</a:t>
            </a:r>
            <a:endParaRPr lang="en-US" sz="1700" dirty="0"/>
          </a:p>
        </p:txBody>
      </p:sp>
      <p:sp>
        <p:nvSpPr>
          <p:cNvPr id="11" name="text-242"/>
          <p:cNvSpPr txBox="1"/>
          <p:nvPr/>
        </p:nvSpPr>
        <p:spPr>
          <a:xfrm>
            <a:off x="9281160" y="3538728"/>
            <a:ext cx="2194560" cy="777240"/>
          </a:xfrm>
          <a:prstGeom prst="rect">
            <a:avLst/>
          </a:prstGeom>
          <a:noFill/>
          <a:ln/>
        </p:spPr>
        <p:txBody>
          <a:bodyPr wrap="square" lIns="0" tIns="0" rIns="0" bIns="0" rtlCol="0" anchor="t"/>
          <a:lstStyle/>
          <a:p>
            <a:pPr indent="0" marL="0">
              <a:buNone/>
            </a:pPr>
            <a:r>
              <a:rPr lang="en-US" sz="1400" dirty="0">
                <a:solidFill>
                  <a:schemeClr val="tx1"/>
                </a:solidFill>
              </a:rPr>
              <a:t>Already beats the best of 100,000 random seatings</a:t>
            </a:r>
            <a:endParaRPr lang="en-US" sz="1400" dirty="0"/>
          </a:p>
        </p:txBody>
      </p:sp>
      <p:sp>
        <p:nvSpPr>
          <p:cNvPr id="12" name="card-243"/>
          <p:cNvSpPr/>
          <p:nvPr/>
        </p:nvSpPr>
        <p:spPr>
          <a:xfrm>
            <a:off x="8321040" y="4617720"/>
            <a:ext cx="3291840" cy="1463040"/>
          </a:xfrm>
          <a:prstGeom prst="roundRect">
            <a:avLst>
              <a:gd name="adj" fmla="val 7500"/>
            </a:avLst>
          </a:prstGeom>
          <a:solidFill>
            <a:schemeClr val="bg2"/>
          </a:solidFill>
          <a:ln w="12700">
            <a:solidFill>
              <a:schemeClr val="bg2"/>
            </a:solidFill>
            <a:prstDash val="solid"/>
          </a:ln>
        </p:spPr>
      </p:sp>
      <p:sp>
        <p:nvSpPr>
          <p:cNvPr id="13" name="emoji-244"/>
          <p:cNvSpPr txBox="1"/>
          <p:nvPr/>
        </p:nvSpPr>
        <p:spPr>
          <a:xfrm>
            <a:off x="8503920" y="4846320"/>
            <a:ext cx="640080" cy="64008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14" name="text-245"/>
          <p:cNvSpPr txBox="1"/>
          <p:nvPr/>
        </p:nvSpPr>
        <p:spPr>
          <a:xfrm>
            <a:off x="9281160" y="4800600"/>
            <a:ext cx="2194560" cy="365760"/>
          </a:xfrm>
          <a:prstGeom prst="rect">
            <a:avLst/>
          </a:prstGeom>
          <a:noFill/>
          <a:ln/>
        </p:spPr>
        <p:txBody>
          <a:bodyPr wrap="square" lIns="0" tIns="0" rIns="0" bIns="0" rtlCol="0" anchor="t"/>
          <a:lstStyle/>
          <a:p>
            <a:pPr indent="0" marL="0">
              <a:buNone/>
            </a:pPr>
            <a:r>
              <a:rPr lang="en-US" sz="1700" b="1" dirty="0">
                <a:solidFill>
                  <a:schemeClr val="tx1"/>
                </a:solidFill>
              </a:rPr>
              <a:t>Generation 1000</a:t>
            </a:r>
            <a:endParaRPr lang="en-US" sz="1700" dirty="0"/>
          </a:p>
        </p:txBody>
      </p:sp>
      <p:sp>
        <p:nvSpPr>
          <p:cNvPr id="15" name="text-246"/>
          <p:cNvSpPr txBox="1"/>
          <p:nvPr/>
        </p:nvSpPr>
        <p:spPr>
          <a:xfrm>
            <a:off x="9281160" y="5184648"/>
            <a:ext cx="2194560" cy="777240"/>
          </a:xfrm>
          <a:prstGeom prst="rect">
            <a:avLst/>
          </a:prstGeom>
          <a:noFill/>
          <a:ln/>
        </p:spPr>
        <p:txBody>
          <a:bodyPr wrap="square" lIns="0" tIns="0" rIns="0" bIns="0" rtlCol="0" anchor="t"/>
          <a:lstStyle/>
          <a:p>
            <a:pPr indent="0" marL="0">
              <a:buNone/>
            </a:pPr>
            <a:r>
              <a:rPr lang="en-US" sz="1400" dirty="0">
                <a:solidFill>
                  <a:schemeClr val="tx1"/>
                </a:solidFill>
              </a:rPr>
              <a:t>Happiness 2625: 0 feuds, 8/8 elders at the tör</a:t>
            </a:r>
            <a:endParaRPr lang="en-US" sz="14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Before vs after</a:t>
            </a:r>
            <a:endParaRPr lang="en-US" sz="3600" dirty="0"/>
          </a:p>
        </p:txBody>
      </p:sp>
      <p:pic>
        <p:nvPicPr>
          <p:cNvPr id="3" name="image-247" descr="Random seating: 10 tables, guests coloured by family">    </p:cNvPr>
          <p:cNvPicPr>
            <a:picLocks noChangeAspect="1"/>
          </p:cNvPicPr>
          <p:nvPr/>
        </p:nvPicPr>
        <p:blipFill>
          <a:blip r:embed="rId1"/>
          <a:stretch>
            <a:fillRect/>
          </a:stretch>
        </p:blipFill>
        <p:spPr>
          <a:xfrm>
            <a:off x="548640" y="1280160"/>
            <a:ext cx="5486400" cy="3078944"/>
          </a:xfrm>
          <a:prstGeom prst="rect">
            <a:avLst/>
          </a:prstGeom>
        </p:spPr>
      </p:pic>
      <p:sp>
        <p:nvSpPr>
          <p:cNvPr id="4" name="card-248"/>
          <p:cNvSpPr/>
          <p:nvPr/>
        </p:nvSpPr>
        <p:spPr>
          <a:xfrm>
            <a:off x="548640" y="4572000"/>
            <a:ext cx="5486400" cy="1463040"/>
          </a:xfrm>
          <a:prstGeom prst="roundRect">
            <a:avLst>
              <a:gd name="adj" fmla="val 7500"/>
            </a:avLst>
          </a:prstGeom>
          <a:solidFill>
            <a:schemeClr val="bg2"/>
          </a:solidFill>
          <a:ln w="12700">
            <a:solidFill>
              <a:schemeClr val="bg2"/>
            </a:solidFill>
            <a:prstDash val="solid"/>
          </a:ln>
        </p:spPr>
      </p:sp>
      <p:sp>
        <p:nvSpPr>
          <p:cNvPr id="5" name="text-249"/>
          <p:cNvSpPr txBox="1"/>
          <p:nvPr/>
        </p:nvSpPr>
        <p:spPr>
          <a:xfrm>
            <a:off x="777240" y="4709160"/>
            <a:ext cx="1645920" cy="685800"/>
          </a:xfrm>
          <a:prstGeom prst="rect">
            <a:avLst/>
          </a:prstGeom>
          <a:noFill/>
          <a:ln/>
        </p:spPr>
        <p:txBody>
          <a:bodyPr wrap="square" lIns="0" tIns="0" rIns="0" bIns="0" rtlCol="0" anchor="t"/>
          <a:lstStyle/>
          <a:p>
            <a:pPr indent="0" marL="0">
              <a:buNone/>
            </a:pPr>
            <a:r>
              <a:rPr lang="en-US" sz="3200" b="1" dirty="0">
                <a:solidFill>
                  <a:schemeClr val="accent1"/>
                </a:solidFill>
              </a:rPr>
              <a:t>2</a:t>
            </a:r>
            <a:endParaRPr lang="en-US" sz="3200" dirty="0"/>
          </a:p>
        </p:txBody>
      </p:sp>
      <p:sp>
        <p:nvSpPr>
          <p:cNvPr id="6" name="text-250"/>
          <p:cNvSpPr txBox="1"/>
          <p:nvPr/>
        </p:nvSpPr>
        <p:spPr>
          <a:xfrm>
            <a:off x="777240" y="5394960"/>
            <a:ext cx="1645920" cy="457200"/>
          </a:xfrm>
          <a:prstGeom prst="rect">
            <a:avLst/>
          </a:prstGeom>
          <a:noFill/>
          <a:ln/>
        </p:spPr>
        <p:txBody>
          <a:bodyPr wrap="square" lIns="0" tIns="0" rIns="0" bIns="0" rtlCol="0" anchor="t"/>
          <a:lstStyle/>
          <a:p>
            <a:pPr indent="0" marL="0">
              <a:buNone/>
            </a:pPr>
            <a:r>
              <a:rPr lang="en-US" sz="1500" dirty="0">
                <a:solidFill>
                  <a:schemeClr val="tx1"/>
                </a:solidFill>
              </a:rPr>
              <a:t>feuds at a table</a:t>
            </a:r>
            <a:endParaRPr lang="en-US" sz="1500" dirty="0"/>
          </a:p>
        </p:txBody>
      </p:sp>
      <p:sp>
        <p:nvSpPr>
          <p:cNvPr id="7" name="text-251"/>
          <p:cNvSpPr txBox="1"/>
          <p:nvPr/>
        </p:nvSpPr>
        <p:spPr>
          <a:xfrm>
            <a:off x="2514600" y="4709160"/>
            <a:ext cx="1645920" cy="685800"/>
          </a:xfrm>
          <a:prstGeom prst="rect">
            <a:avLst/>
          </a:prstGeom>
          <a:noFill/>
          <a:ln/>
        </p:spPr>
        <p:txBody>
          <a:bodyPr wrap="square" lIns="0" tIns="0" rIns="0" bIns="0" rtlCol="0" anchor="t"/>
          <a:lstStyle/>
          <a:p>
            <a:pPr indent="0" marL="0">
              <a:buNone/>
            </a:pPr>
            <a:r>
              <a:rPr lang="en-US" sz="3200" b="1" dirty="0">
                <a:solidFill>
                  <a:schemeClr val="accent1"/>
                </a:solidFill>
              </a:rPr>
              <a:t>0/8</a:t>
            </a:r>
            <a:endParaRPr lang="en-US" sz="3200" dirty="0"/>
          </a:p>
        </p:txBody>
      </p:sp>
      <p:sp>
        <p:nvSpPr>
          <p:cNvPr id="8" name="text-252"/>
          <p:cNvSpPr txBox="1"/>
          <p:nvPr/>
        </p:nvSpPr>
        <p:spPr>
          <a:xfrm>
            <a:off x="2514600" y="5394960"/>
            <a:ext cx="1645920" cy="457200"/>
          </a:xfrm>
          <a:prstGeom prst="rect">
            <a:avLst/>
          </a:prstGeom>
          <a:noFill/>
          <a:ln/>
        </p:spPr>
        <p:txBody>
          <a:bodyPr wrap="square" lIns="0" tIns="0" rIns="0" bIns="0" rtlCol="0" anchor="t"/>
          <a:lstStyle/>
          <a:p>
            <a:pPr indent="0" marL="0">
              <a:buNone/>
            </a:pPr>
            <a:r>
              <a:rPr lang="en-US" sz="1500" dirty="0">
                <a:solidFill>
                  <a:schemeClr val="tx1"/>
                </a:solidFill>
              </a:rPr>
              <a:t>elders at the tör</a:t>
            </a:r>
            <a:endParaRPr lang="en-US" sz="1500" dirty="0"/>
          </a:p>
        </p:txBody>
      </p:sp>
      <p:sp>
        <p:nvSpPr>
          <p:cNvPr id="9" name="text-253"/>
          <p:cNvSpPr txBox="1"/>
          <p:nvPr/>
        </p:nvSpPr>
        <p:spPr>
          <a:xfrm>
            <a:off x="4251960" y="4709160"/>
            <a:ext cx="1645920" cy="685800"/>
          </a:xfrm>
          <a:prstGeom prst="rect">
            <a:avLst/>
          </a:prstGeom>
          <a:noFill/>
          <a:ln/>
        </p:spPr>
        <p:txBody>
          <a:bodyPr wrap="square" lIns="0" tIns="0" rIns="0" bIns="0" rtlCol="0" anchor="t"/>
          <a:lstStyle/>
          <a:p>
            <a:pPr indent="0" marL="0">
              <a:buNone/>
            </a:pPr>
            <a:r>
              <a:rPr lang="en-US" sz="3200" b="1" dirty="0">
                <a:solidFill>
                  <a:schemeClr val="accent1"/>
                </a:solidFill>
              </a:rPr>
              <a:t>-10</a:t>
            </a:r>
            <a:endParaRPr lang="en-US" sz="3200" dirty="0"/>
          </a:p>
        </p:txBody>
      </p:sp>
      <p:sp>
        <p:nvSpPr>
          <p:cNvPr id="10" name="text-254"/>
          <p:cNvSpPr txBox="1"/>
          <p:nvPr/>
        </p:nvSpPr>
        <p:spPr>
          <a:xfrm>
            <a:off x="4251960" y="5394960"/>
            <a:ext cx="1645920" cy="457200"/>
          </a:xfrm>
          <a:prstGeom prst="rect">
            <a:avLst/>
          </a:prstGeom>
          <a:noFill/>
          <a:ln/>
        </p:spPr>
        <p:txBody>
          <a:bodyPr wrap="square" lIns="0" tIns="0" rIns="0" bIns="0" rtlCol="0" anchor="t"/>
          <a:lstStyle/>
          <a:p>
            <a:pPr indent="0" marL="0">
              <a:buNone/>
            </a:pPr>
            <a:r>
              <a:rPr lang="en-US" sz="1500" dirty="0">
                <a:solidFill>
                  <a:schemeClr val="tx1"/>
                </a:solidFill>
              </a:rPr>
              <a:t>happiness</a:t>
            </a:r>
            <a:endParaRPr lang="en-US" sz="1500" dirty="0"/>
          </a:p>
        </p:txBody>
      </p:sp>
      <p:pic>
        <p:nvPicPr>
          <p:cNvPr id="11" name="image-255" descr="Genetic Algorithm seating: 10 tables, guests coloured by family">    </p:cNvPr>
          <p:cNvPicPr>
            <a:picLocks noChangeAspect="1"/>
          </p:cNvPicPr>
          <p:nvPr/>
        </p:nvPicPr>
        <p:blipFill>
          <a:blip r:embed="rId2"/>
          <a:stretch>
            <a:fillRect/>
          </a:stretch>
        </p:blipFill>
        <p:spPr>
          <a:xfrm>
            <a:off x="6126480" y="1280160"/>
            <a:ext cx="5486400" cy="3078944"/>
          </a:xfrm>
          <a:prstGeom prst="rect">
            <a:avLst/>
          </a:prstGeom>
        </p:spPr>
      </p:pic>
      <p:sp>
        <p:nvSpPr>
          <p:cNvPr id="12" name="card-256"/>
          <p:cNvSpPr/>
          <p:nvPr/>
        </p:nvSpPr>
        <p:spPr>
          <a:xfrm>
            <a:off x="6126480" y="4572000"/>
            <a:ext cx="5486400" cy="1463040"/>
          </a:xfrm>
          <a:prstGeom prst="roundRect">
            <a:avLst>
              <a:gd name="adj" fmla="val 7500"/>
            </a:avLst>
          </a:prstGeom>
          <a:solidFill>
            <a:schemeClr val="bg2"/>
          </a:solidFill>
          <a:ln w="12700">
            <a:solidFill>
              <a:schemeClr val="bg2"/>
            </a:solidFill>
            <a:prstDash val="solid"/>
          </a:ln>
        </p:spPr>
      </p:sp>
      <p:sp>
        <p:nvSpPr>
          <p:cNvPr id="13" name="text-257"/>
          <p:cNvSpPr txBox="1"/>
          <p:nvPr/>
        </p:nvSpPr>
        <p:spPr>
          <a:xfrm>
            <a:off x="6355080" y="4709160"/>
            <a:ext cx="1645920" cy="685800"/>
          </a:xfrm>
          <a:prstGeom prst="rect">
            <a:avLst/>
          </a:prstGeom>
          <a:noFill/>
          <a:ln/>
        </p:spPr>
        <p:txBody>
          <a:bodyPr wrap="square" lIns="0" tIns="0" rIns="0" bIns="0" rtlCol="0" anchor="t"/>
          <a:lstStyle/>
          <a:p>
            <a:pPr indent="0" marL="0">
              <a:buNone/>
            </a:pPr>
            <a:r>
              <a:rPr lang="en-US" sz="3200" b="1" dirty="0">
                <a:solidFill>
                  <a:schemeClr val="accent3"/>
                </a:solidFill>
              </a:rPr>
              <a:t>0</a:t>
            </a:r>
            <a:endParaRPr lang="en-US" sz="3200" dirty="0"/>
          </a:p>
        </p:txBody>
      </p:sp>
      <p:sp>
        <p:nvSpPr>
          <p:cNvPr id="14" name="text-258"/>
          <p:cNvSpPr txBox="1"/>
          <p:nvPr/>
        </p:nvSpPr>
        <p:spPr>
          <a:xfrm>
            <a:off x="6355080" y="5394960"/>
            <a:ext cx="1645920" cy="457200"/>
          </a:xfrm>
          <a:prstGeom prst="rect">
            <a:avLst/>
          </a:prstGeom>
          <a:noFill/>
          <a:ln/>
        </p:spPr>
        <p:txBody>
          <a:bodyPr wrap="square" lIns="0" tIns="0" rIns="0" bIns="0" rtlCol="0" anchor="t"/>
          <a:lstStyle/>
          <a:p>
            <a:pPr indent="0" marL="0">
              <a:buNone/>
            </a:pPr>
            <a:r>
              <a:rPr lang="en-US" sz="1500" dirty="0">
                <a:solidFill>
                  <a:schemeClr val="tx1"/>
                </a:solidFill>
              </a:rPr>
              <a:t>feuds at a table</a:t>
            </a:r>
            <a:endParaRPr lang="en-US" sz="1500" dirty="0"/>
          </a:p>
        </p:txBody>
      </p:sp>
      <p:sp>
        <p:nvSpPr>
          <p:cNvPr id="15" name="text-259"/>
          <p:cNvSpPr txBox="1"/>
          <p:nvPr/>
        </p:nvSpPr>
        <p:spPr>
          <a:xfrm>
            <a:off x="8092440" y="4709160"/>
            <a:ext cx="1645920" cy="685800"/>
          </a:xfrm>
          <a:prstGeom prst="rect">
            <a:avLst/>
          </a:prstGeom>
          <a:noFill/>
          <a:ln/>
        </p:spPr>
        <p:txBody>
          <a:bodyPr wrap="square" lIns="0" tIns="0" rIns="0" bIns="0" rtlCol="0" anchor="t"/>
          <a:lstStyle/>
          <a:p>
            <a:pPr indent="0" marL="0">
              <a:buNone/>
            </a:pPr>
            <a:r>
              <a:rPr lang="en-US" sz="3200" b="1" dirty="0">
                <a:solidFill>
                  <a:schemeClr val="accent3"/>
                </a:solidFill>
              </a:rPr>
              <a:t>8/8</a:t>
            </a:r>
            <a:endParaRPr lang="en-US" sz="3200" dirty="0"/>
          </a:p>
        </p:txBody>
      </p:sp>
      <p:sp>
        <p:nvSpPr>
          <p:cNvPr id="16" name="text-260"/>
          <p:cNvSpPr txBox="1"/>
          <p:nvPr/>
        </p:nvSpPr>
        <p:spPr>
          <a:xfrm>
            <a:off x="8092440" y="5394960"/>
            <a:ext cx="1645920" cy="457200"/>
          </a:xfrm>
          <a:prstGeom prst="rect">
            <a:avLst/>
          </a:prstGeom>
          <a:noFill/>
          <a:ln/>
        </p:spPr>
        <p:txBody>
          <a:bodyPr wrap="square" lIns="0" tIns="0" rIns="0" bIns="0" rtlCol="0" anchor="t"/>
          <a:lstStyle/>
          <a:p>
            <a:pPr indent="0" marL="0">
              <a:buNone/>
            </a:pPr>
            <a:r>
              <a:rPr lang="en-US" sz="1500" dirty="0">
                <a:solidFill>
                  <a:schemeClr val="tx1"/>
                </a:solidFill>
              </a:rPr>
              <a:t>elders at the tör</a:t>
            </a:r>
            <a:endParaRPr lang="en-US" sz="1500" dirty="0"/>
          </a:p>
        </p:txBody>
      </p:sp>
      <p:sp>
        <p:nvSpPr>
          <p:cNvPr id="17" name="text-261"/>
          <p:cNvSpPr txBox="1"/>
          <p:nvPr/>
        </p:nvSpPr>
        <p:spPr>
          <a:xfrm>
            <a:off x="9829800" y="4709160"/>
            <a:ext cx="1645920" cy="685800"/>
          </a:xfrm>
          <a:prstGeom prst="rect">
            <a:avLst/>
          </a:prstGeom>
          <a:noFill/>
          <a:ln/>
        </p:spPr>
        <p:txBody>
          <a:bodyPr wrap="square" lIns="0" tIns="0" rIns="0" bIns="0" rtlCol="0" anchor="t"/>
          <a:lstStyle/>
          <a:p>
            <a:pPr indent="0" marL="0">
              <a:buNone/>
            </a:pPr>
            <a:r>
              <a:rPr lang="en-US" sz="3200" b="1" dirty="0">
                <a:solidFill>
                  <a:schemeClr val="accent3"/>
                </a:solidFill>
              </a:rPr>
              <a:t>2625</a:t>
            </a:r>
            <a:endParaRPr lang="en-US" sz="3200" dirty="0"/>
          </a:p>
        </p:txBody>
      </p:sp>
      <p:sp>
        <p:nvSpPr>
          <p:cNvPr id="18" name="text-262"/>
          <p:cNvSpPr txBox="1"/>
          <p:nvPr/>
        </p:nvSpPr>
        <p:spPr>
          <a:xfrm>
            <a:off x="9829800" y="5394960"/>
            <a:ext cx="1645920" cy="457200"/>
          </a:xfrm>
          <a:prstGeom prst="rect">
            <a:avLst/>
          </a:prstGeom>
          <a:noFill/>
          <a:ln/>
        </p:spPr>
        <p:txBody>
          <a:bodyPr wrap="square" lIns="0" tIns="0" rIns="0" bIns="0" rtlCol="0" anchor="t"/>
          <a:lstStyle/>
          <a:p>
            <a:pPr indent="0" marL="0">
              <a:buNone/>
            </a:pPr>
            <a:r>
              <a:rPr lang="en-US" sz="1500" dirty="0">
                <a:solidFill>
                  <a:schemeClr val="tx1"/>
                </a:solidFill>
              </a:rPr>
              <a:t>happiness</a:t>
            </a:r>
            <a:endParaRPr lang="en-US" sz="15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GA vs random search: same number of tries</a:t>
            </a:r>
            <a:endParaRPr lang="en-US" sz="3600" dirty="0"/>
          </a:p>
        </p:txBody>
      </p:sp>
      <p:graphicFrame>
        <p:nvGraphicFramePr>
          <p:cNvPr id="3" name="chart-263" descr=""/>
          <p:cNvGraphicFramePr/>
          <p:nvPr/>
        </p:nvGraphicFramePr>
        <p:xfrm>
          <a:off x="548640" y="1325880"/>
          <a:ext cx="5760720" cy="4754880"/>
        </p:xfrm>
        <a:graphic xmlns:a="http://schemas.openxmlformats.org/drawingml/2006/main">
          <a:graphicData uri="http://schemas.openxmlformats.org/drawingml/2006/chart">
            <c:chart xmlns:c="http://schemas.openxmlformats.org/drawingml/2006/chart" r:id="rId1"/>
          </a:graphicData>
        </a:graphic>
      </p:graphicFrame>
      <p:graphicFrame>
        <p:nvGraphicFramePr>
          <p:cNvPr id="16" name="table-264"/>
          <p:cNvGraphicFramePr>
            <a:graphicFrameLocks noGrp="1"/>
          </p:cNvGraphicFramePr>
          <p:nvPr>
            <p:extLst>
              <p:ext uri="{D42A27DB-BD31-4B8C-83A1-F6EECF244321}">
                <p14:modId xmlns:p14="http://schemas.microsoft.com/office/powerpoint/2010/main" val="1579011935"/>
              </p:ext>
            </p:extLst>
          </p:nvPr>
        </p:nvGraphicFramePr>
        <p:xfrm>
          <a:off x="6583680" y="1325880"/>
          <a:ext cx="5029200" cy="914400"/>
        </p:xfrm>
        <a:graphic>
          <a:graphicData uri="http://schemas.openxmlformats.org/drawingml/2006/table">
            <a:tbl>
              <a:tblPr/>
              <a:tblGrid>
                <a:gridCol w="1874520"/>
                <a:gridCol w="960120"/>
                <a:gridCol w="1188720"/>
                <a:gridCol w="1005840"/>
              </a:tblGrid>
              <a:tr h="502920">
                <a:tc>
                  <a:txBody>
                    <a:bodyPr/>
                    <a:lstStyle/>
                    <a:p>
                      <a:pPr indent="0" marL="0">
                        <a:buNone/>
                      </a:pP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Random</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Best random</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GA</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tx2"/>
                    </a:solidFill>
                  </a:tcPr>
                </a:tc>
              </a:tr>
              <a:tr h="502920">
                <a:tc>
                  <a:txBody>
                    <a:bodyPr/>
                    <a:lstStyle/>
                    <a:p>
                      <a:pPr indent="0" marL="0">
                        <a:buNone/>
                      </a:pPr>
                      <a:r>
                        <a:rPr lang="en-US" sz="1500" dirty="0">
                          <a:solidFill>
                            <a:schemeClr val="tx1"/>
                          </a:solidFill>
                        </a:rPr>
                        <a:t>Feuds at a table</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2</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0</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0</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r>
              <a:tr h="502920">
                <a:tc>
                  <a:txBody>
                    <a:bodyPr/>
                    <a:lstStyle/>
                    <a:p>
                      <a:pPr indent="0" marL="0">
                        <a:buNone/>
                      </a:pPr>
                      <a:r>
                        <a:rPr lang="en-US" sz="1500" dirty="0">
                          <a:solidFill>
                            <a:schemeClr val="tx1"/>
                          </a:solidFill>
                        </a:rPr>
                        <a:t>Elders at the tör</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0/8</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5/8</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rPr>
                        <a:t>8/8</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r>
              <a:tr h="502920">
                <a:tc>
                  <a:txBody>
                    <a:bodyPr/>
                    <a:lstStyle/>
                    <a:p>
                      <a:pPr indent="0" marL="0">
                        <a:buNone/>
                      </a:pPr>
                      <a:r>
                        <a:rPr lang="en-US" sz="1500" dirty="0">
                          <a:solidFill>
                            <a:schemeClr val="tx1"/>
                          </a:solidFill>
                        </a:rPr>
                        <a:t>Relatives together</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7.5%</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12.5%</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75.8%</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r>
              <a:tr h="502920">
                <a:tc>
                  <a:txBody>
                    <a:bodyPr/>
                    <a:lstStyle/>
                    <a:p>
                      <a:pPr indent="0" marL="0">
                        <a:buNone/>
                      </a:pPr>
                      <a:r>
                        <a:rPr lang="en-US" sz="1500" dirty="0">
                          <a:solidFill>
                            <a:schemeClr val="tx1"/>
                          </a:solidFill>
                        </a:rPr>
                        <a:t>Friends together</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5%</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rPr>
                        <a:t>7.5%</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c>
                  <a:txBody>
                    <a:bodyPr/>
                    <a:lstStyle/>
                    <a:p>
                      <a:pPr indent="0" marL="0">
                        <a:buNone/>
                      </a:pPr>
                      <a:r>
                        <a:rPr lang="en-US" sz="1500" b="1" dirty="0">
                          <a:solidFill>
                            <a:schemeClr val="accent1"/>
                          </a:solidFill>
                        </a:rPr>
                        <a:t>2.5%</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1"/>
                    </a:solidFill>
                  </a:tcPr>
                </a:tc>
              </a:tr>
              <a:tr h="502920">
                <a:tc>
                  <a:txBody>
                    <a:bodyPr/>
                    <a:lstStyle/>
                    <a:p>
                      <a:pPr indent="0" marL="0">
                        <a:buNone/>
                      </a:pPr>
                      <a:r>
                        <a:rPr lang="en-US" sz="1500" dirty="0">
                          <a:solidFill>
                            <a:schemeClr val="tx1"/>
                          </a:solidFill>
                        </a:rPr>
                        <a:t>Run time</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rPr>
                        <a:t>3.4 s</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c>
                  <a:txBody>
                    <a:bodyPr/>
                    <a:lstStyle/>
                    <a:p>
                      <a:pPr indent="0" marL="0">
                        <a:buNone/>
                      </a:pPr>
                      <a:r>
                        <a:rPr lang="en-US" sz="1500" b="1" dirty="0">
                          <a:solidFill>
                            <a:schemeClr val="accent1"/>
                          </a:solidFill>
                        </a:rPr>
                        <a:t>5.7 s</a:t>
                      </a:r>
                      <a:endParaRPr lang="en-US" sz="1500" dirty="0"/>
                    </a:p>
                  </a:txBody>
                  <a:tcPr marL="91440" marR="91440" marT="45720" marB="45720" anchor="ctr">
                    <a:lnL w="12700" cap="flat" cmpd="sng" algn="ctr">
                      <a:solidFill>
                        <a:srgbClr val="E5DADD"/>
                      </a:solidFill>
                      <a:prstDash val="solid"/>
                      <a:round/>
                      <a:headEnd type="none" w="med" len="med"/>
                      <a:tailEnd type="none" w="med" len="med"/>
                    </a:lnL>
                    <a:lnR w="12700" cap="flat" cmpd="sng" algn="ctr">
                      <a:solidFill>
                        <a:srgbClr val="E5DADD"/>
                      </a:solidFill>
                      <a:prstDash val="solid"/>
                      <a:round/>
                      <a:headEnd type="none" w="med" len="med"/>
                      <a:tailEnd type="none" w="med" len="med"/>
                    </a:lnR>
                    <a:lnT w="12700" cap="flat" cmpd="sng" algn="ctr">
                      <a:solidFill>
                        <a:srgbClr val="E5DADD"/>
                      </a:solidFill>
                      <a:prstDash val="solid"/>
                      <a:round/>
                      <a:headEnd type="none" w="med" len="med"/>
                      <a:tailEnd type="none" w="med" len="med"/>
                    </a:lnT>
                    <a:lnB w="12700" cap="flat" cmpd="sng" algn="ctr">
                      <a:solidFill>
                        <a:srgbClr val="E5DADD"/>
                      </a:solidFill>
                      <a:prstDash val="solid"/>
                      <a:round/>
                      <a:headEnd type="none" w="med" len="med"/>
                      <a:tailEnd type="none" w="med" len="med"/>
                    </a:lnB>
                    <a:solidFill>
                      <a:schemeClr val="bg2"/>
                    </a:solidFill>
                  </a:tcPr>
                </a:tc>
              </a:tr>
            </a:tbl>
          </a:graphicData>
        </a:graphic>
      </p:graphicFrame>
      <p:sp>
        <p:nvSpPr>
          <p:cNvPr id="5" name="card-265"/>
          <p:cNvSpPr/>
          <p:nvPr/>
        </p:nvSpPr>
        <p:spPr>
          <a:xfrm>
            <a:off x="6583680" y="4617720"/>
            <a:ext cx="5029200" cy="1463040"/>
          </a:xfrm>
          <a:prstGeom prst="roundRect">
            <a:avLst>
              <a:gd name="adj" fmla="val 7500"/>
            </a:avLst>
          </a:prstGeom>
          <a:solidFill>
            <a:schemeClr val="accent1"/>
          </a:solidFill>
          <a:ln w="12700">
            <a:solidFill>
              <a:schemeClr val="accent1"/>
            </a:solidFill>
            <a:prstDash val="solid"/>
          </a:ln>
        </p:spPr>
      </p:sp>
      <p:sp>
        <p:nvSpPr>
          <p:cNvPr id="6" name="text-266"/>
          <p:cNvSpPr txBox="1"/>
          <p:nvPr/>
        </p:nvSpPr>
        <p:spPr>
          <a:xfrm>
            <a:off x="6812280" y="4617720"/>
            <a:ext cx="4572000" cy="1463040"/>
          </a:xfrm>
          <a:prstGeom prst="rect">
            <a:avLst/>
          </a:prstGeom>
          <a:noFill/>
          <a:ln/>
        </p:spPr>
        <p:txBody>
          <a:bodyPr wrap="square" lIns="0" tIns="0" rIns="0" bIns="0" rtlCol="0" anchor="ctr"/>
          <a:lstStyle/>
          <a:p>
            <a:pPr indent="0" marL="0">
              <a:buNone/>
            </a:pPr>
            <a:r>
              <a:rPr lang="en-US" sz="1800" b="1" dirty="0">
                <a:solidFill>
                  <a:schemeClr val="bg1"/>
                </a:solidFill>
              </a:rPr>
              <a:t>With the same 100,000 happiness evaluations, the GA's toi is 3.2× happier than the best random one.</a:t>
            </a:r>
            <a:endParaRPr lang="en-US" sz="18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600" b="1" dirty="0">
                <a:solidFill>
                  <a:schemeClr val="tx2"/>
                </a:solidFill>
              </a:rPr>
              <a:t>What we learned and what's next</a:t>
            </a:r>
            <a:endParaRPr lang="en-US" sz="3600" dirty="0"/>
          </a:p>
        </p:txBody>
      </p:sp>
      <p:sp>
        <p:nvSpPr>
          <p:cNvPr id="3" name="card-267"/>
          <p:cNvSpPr/>
          <p:nvPr/>
        </p:nvSpPr>
        <p:spPr>
          <a:xfrm>
            <a:off x="548640" y="1325880"/>
            <a:ext cx="5394960" cy="4754880"/>
          </a:xfrm>
          <a:prstGeom prst="roundRect">
            <a:avLst>
              <a:gd name="adj" fmla="val 2308"/>
            </a:avLst>
          </a:prstGeom>
          <a:solidFill>
            <a:schemeClr val="bg2"/>
          </a:solidFill>
          <a:ln w="12700">
            <a:solidFill>
              <a:schemeClr val="bg2"/>
            </a:solidFill>
            <a:prstDash val="solid"/>
          </a:ln>
        </p:spPr>
      </p:sp>
      <p:sp>
        <p:nvSpPr>
          <p:cNvPr id="4" name="emoji-268"/>
          <p:cNvSpPr txBox="1"/>
          <p:nvPr/>
        </p:nvSpPr>
        <p:spPr>
          <a:xfrm>
            <a:off x="777240" y="1554480"/>
            <a:ext cx="685800" cy="6858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5" name="text-269"/>
          <p:cNvSpPr txBox="1"/>
          <p:nvPr/>
        </p:nvSpPr>
        <p:spPr>
          <a:xfrm>
            <a:off x="1645920" y="1554480"/>
            <a:ext cx="4069080" cy="685800"/>
          </a:xfrm>
          <a:prstGeom prst="rect">
            <a:avLst/>
          </a:prstGeom>
          <a:noFill/>
          <a:ln/>
        </p:spPr>
        <p:txBody>
          <a:bodyPr wrap="square" lIns="0" tIns="0" rIns="0" bIns="0" rtlCol="0" anchor="ctr"/>
          <a:lstStyle/>
          <a:p>
            <a:pPr indent="0" marL="0">
              <a:buNone/>
            </a:pPr>
            <a:r>
              <a:rPr lang="en-US" sz="2100" b="1" dirty="0">
                <a:solidFill>
                  <a:schemeClr val="tx1"/>
                </a:solidFill>
              </a:rPr>
              <a:t>Analysis</a:t>
            </a:r>
            <a:endParaRPr lang="en-US" sz="2100" dirty="0"/>
          </a:p>
        </p:txBody>
      </p:sp>
      <p:sp>
        <p:nvSpPr>
          <p:cNvPr id="6" name="text-270"/>
          <p:cNvSpPr txBox="1"/>
          <p:nvPr/>
        </p:nvSpPr>
        <p:spPr>
          <a:xfrm>
            <a:off x="822960" y="2468880"/>
            <a:ext cx="4846320" cy="3474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Hard rules always satisfied: 0 feuds, 8/8 elders at the tör</a:t>
            </a:r>
            <a:endParaRPr lang="en-US" sz="1600" dirty="0"/>
          </a:p>
          <a:p>
            <a:pPr marL="342900" indent="-342900">
              <a:spcAft>
                <a:spcPts val="1000"/>
              </a:spcAft>
              <a:buSzPct val="100000"/>
              <a:buChar char="•"/>
            </a:pPr>
            <a:r>
              <a:rPr lang="en-US" sz="1600" dirty="0">
                <a:solidFill>
                  <a:schemeClr val="tx1"/>
                </a:solidFill>
              </a:rPr>
              <a:t>94% of the final happiness is reached by generation 300, then fine-tuning</a:t>
            </a:r>
            <a:endParaRPr lang="en-US" sz="1600" dirty="0"/>
          </a:p>
          <a:p>
            <a:pPr marL="342900" indent="-342900">
              <a:spcAft>
                <a:spcPts val="1000"/>
              </a:spcAft>
              <a:buSzPct val="100000"/>
              <a:buChar char="•"/>
            </a:pPr>
            <a:r>
              <a:rPr lang="en-US" sz="1600" dirty="0">
                <a:solidFill>
                  <a:schemeClr val="tx1"/>
                </a:solidFill>
              </a:rPr>
              <a:t>Friends lose to relatives (+5 vs +10): the points set the priorities</a:t>
            </a:r>
            <a:endParaRPr lang="en-US" sz="1600" dirty="0"/>
          </a:p>
          <a:p>
            <a:pPr marL="342900" indent="-342900">
              <a:spcAft>
                <a:spcPts val="1000"/>
              </a:spcAft>
              <a:buSzPct val="100000"/>
              <a:buChar char="•"/>
            </a:pPr>
            <a:r>
              <a:rPr lang="en-US" sz="1600" dirty="0">
                <a:solidFill>
                  <a:schemeClr val="tx1"/>
                </a:solidFill>
              </a:rPr>
              <a:t>A GA gives a very good plan, but no proof that it is the best one</a:t>
            </a:r>
            <a:endParaRPr lang="en-US" sz="1600" dirty="0"/>
          </a:p>
          <a:p>
            <a:pPr marL="342900" indent="-342900">
              <a:spcAft>
                <a:spcPts val="1000"/>
              </a:spcAft>
              <a:buSzPct val="100000"/>
              <a:buChar char="•"/>
            </a:pPr>
            <a:r>
              <a:rPr lang="en-US" sz="1600" dirty="0">
                <a:solidFill>
                  <a:schemeClr val="tx1"/>
                </a:solidFill>
              </a:rPr>
              <a:t>Guests are generated (seed 42), not a real toi… yet</a:t>
            </a:r>
            <a:endParaRPr lang="en-US" sz="1600" dirty="0"/>
          </a:p>
        </p:txBody>
      </p:sp>
      <p:sp>
        <p:nvSpPr>
          <p:cNvPr id="7" name="card-271"/>
          <p:cNvSpPr/>
          <p:nvPr/>
        </p:nvSpPr>
        <p:spPr>
          <a:xfrm>
            <a:off x="6217920" y="1325880"/>
            <a:ext cx="5394960" cy="4754880"/>
          </a:xfrm>
          <a:prstGeom prst="roundRect">
            <a:avLst>
              <a:gd name="adj" fmla="val 2308"/>
            </a:avLst>
          </a:prstGeom>
          <a:solidFill>
            <a:schemeClr val="bg2"/>
          </a:solidFill>
          <a:ln w="12700">
            <a:solidFill>
              <a:schemeClr val="bg2"/>
            </a:solidFill>
            <a:prstDash val="solid"/>
          </a:ln>
        </p:spPr>
      </p:sp>
      <p:sp>
        <p:nvSpPr>
          <p:cNvPr id="8" name="emoji-272"/>
          <p:cNvSpPr txBox="1"/>
          <p:nvPr/>
        </p:nvSpPr>
        <p:spPr>
          <a:xfrm>
            <a:off x="6446520" y="1554480"/>
            <a:ext cx="685800" cy="68580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2400" dirty="0">
                <a:solidFill>
                  <a:srgbClr val="000000"/>
                </a:solidFill>
                <a:latin typeface="Segoe UI Emoji" pitchFamily="34" charset="0"/>
                <a:ea typeface="Segoe UI Emoji" pitchFamily="34" charset="-122"/>
                <a:cs typeface="Segoe UI Emoji" pitchFamily="34" charset="-120"/>
              </a:rPr>
              <a:t>🚀</a:t>
            </a:r>
            <a:endParaRPr lang="en-US" sz="2400" dirty="0"/>
          </a:p>
        </p:txBody>
      </p:sp>
      <p:sp>
        <p:nvSpPr>
          <p:cNvPr id="9" name="text-273"/>
          <p:cNvSpPr txBox="1"/>
          <p:nvPr/>
        </p:nvSpPr>
        <p:spPr>
          <a:xfrm>
            <a:off x="7315200" y="1554480"/>
            <a:ext cx="4069080" cy="685800"/>
          </a:xfrm>
          <a:prstGeom prst="rect">
            <a:avLst/>
          </a:prstGeom>
          <a:noFill/>
          <a:ln/>
        </p:spPr>
        <p:txBody>
          <a:bodyPr wrap="square" lIns="0" tIns="0" rIns="0" bIns="0" rtlCol="0" anchor="ctr"/>
          <a:lstStyle/>
          <a:p>
            <a:pPr indent="0" marL="0">
              <a:buNone/>
            </a:pPr>
            <a:r>
              <a:rPr lang="en-US" sz="2100" b="1" dirty="0">
                <a:solidFill>
                  <a:schemeClr val="tx1"/>
                </a:solidFill>
              </a:rPr>
              <a:t>ToiPlan roadmap</a:t>
            </a:r>
            <a:endParaRPr lang="en-US" sz="2100" dirty="0"/>
          </a:p>
        </p:txBody>
      </p:sp>
      <p:sp>
        <p:nvSpPr>
          <p:cNvPr id="10" name="text-274"/>
          <p:cNvSpPr txBox="1"/>
          <p:nvPr/>
        </p:nvSpPr>
        <p:spPr>
          <a:xfrm>
            <a:off x="6492240" y="2468880"/>
            <a:ext cx="4846320" cy="34747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Telegram bot: send a guest list, get a seating plan</a:t>
            </a:r>
            <a:endParaRPr lang="en-US" sz="1600" dirty="0"/>
          </a:p>
          <a:p>
            <a:pPr marL="342900" indent="-342900">
              <a:spcAft>
                <a:spcPts val="1000"/>
              </a:spcAft>
              <a:buSzPct val="100000"/>
              <a:buChar char="•"/>
            </a:pPr>
            <a:r>
              <a:rPr lang="en-US" sz="1600" dirty="0">
                <a:solidFill>
                  <a:schemeClr val="tx1"/>
                </a:solidFill>
              </a:rPr>
              <a:t>More rules: kids' table, dance floor, guests who share a language</a:t>
            </a:r>
            <a:endParaRPr lang="en-US" sz="1600" dirty="0"/>
          </a:p>
          <a:p>
            <a:pPr marL="342900" indent="-342900">
              <a:spcAft>
                <a:spcPts val="1000"/>
              </a:spcAft>
              <a:buSzPct val="100000"/>
              <a:buChar char="•"/>
            </a:pPr>
            <a:r>
              <a:rPr lang="en-US" sz="1600" dirty="0">
                <a:solidFill>
                  <a:schemeClr val="tx1"/>
                </a:solidFill>
              </a:rPr>
              <a:t>Smarter search: add local search to the GA for even happier tois</a:t>
            </a:r>
            <a:endParaRPr lang="en-US" sz="1600" dirty="0"/>
          </a:p>
          <a:p>
            <a:pPr marL="342900" indent="-342900">
              <a:spcAft>
                <a:spcPts val="1000"/>
              </a:spcAft>
              <a:buSzPct val="100000"/>
              <a:buChar char="•"/>
            </a:pPr>
            <a:r>
              <a:rPr lang="en-US" sz="1600" dirty="0">
                <a:solidFill>
                  <a:schemeClr val="tx1"/>
                </a:solidFill>
              </a:rPr>
              <a:t>Pilot at a real toi (we accept invitations 🙃)</a:t>
            </a:r>
            <a:endParaRPr lang="en-US" sz="1600" dirty="0"/>
          </a:p>
        </p:txBody>
      </p:sp>
      <p:sp>
        <p:nvSpPr>
          <p:cNvPr id="25" name="Slide Number Placeholder 0"/>
          <p:cNvSpPr>
            <a:spLocks noGrp="1"/>
          </p:cNvSpPr>
          <p:nvPr>
            <p:ph type="sldNum" sz="quarter" idx="4294967295"/>
          </p:nvPr>
        </p:nvSpPr>
        <p:spPr>
          <a:xfrm>
            <a:off x="10972800" y="6355080"/>
            <a:ext cx="640080" cy="32004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275"/>
          <p:cNvSpPr txBox="1"/>
          <p:nvPr/>
        </p:nvSpPr>
        <p:spPr>
          <a:xfrm>
            <a:off x="731520" y="731520"/>
            <a:ext cx="3108960" cy="1188720"/>
          </a:xfrm>
          <a:prstGeom prst="rect">
            <a:avLst/>
          </a:prstGeom>
          <a:noFill/>
          <a:ln/>
        </p:spPr>
        <p:txBody>
          <a:bodyPr wrap="square" lIns="0" tIns="0" rIns="0" bIns="0" rtlCol="0" anchor="ctr"/>
          <a:lstStyle/>
          <a:p>
            <a:pPr algn="l" indent="0" marL="0">
              <a:buNone/>
            </a:pPr>
            <a:r>
              <a:rPr lang="en-US" sz="6400" dirty="0">
                <a:solidFill>
                  <a:srgbClr val="000000"/>
                </a:solidFill>
                <a:latin typeface="Segoe UI Emoji" pitchFamily="34" charset="0"/>
                <a:ea typeface="Segoe UI Emoji" pitchFamily="34" charset="-122"/>
                <a:cs typeface="Segoe UI Emoji" pitchFamily="34" charset="-120"/>
              </a:rPr>
              <a:t>👵🤝👵</a:t>
            </a:r>
            <a:endParaRPr lang="en-US" sz="6400" dirty="0"/>
          </a:p>
        </p:txBody>
      </p:sp>
      <p:sp>
        <p:nvSpPr>
          <p:cNvPr id="3" name="text-276"/>
          <p:cNvSpPr txBox="1"/>
          <p:nvPr/>
        </p:nvSpPr>
        <p:spPr>
          <a:xfrm>
            <a:off x="3931920" y="1051560"/>
            <a:ext cx="5486400" cy="548640"/>
          </a:xfrm>
          <a:prstGeom prst="rect">
            <a:avLst/>
          </a:prstGeom>
          <a:noFill/>
          <a:ln/>
        </p:spPr>
        <p:txBody>
          <a:bodyPr wrap="square" lIns="0" tIns="0" rIns="0" bIns="0" rtlCol="0" anchor="ctr"/>
          <a:lstStyle/>
          <a:p>
            <a:pPr indent="0" marL="0">
              <a:buNone/>
            </a:pPr>
            <a:r>
              <a:rPr lang="en-US" sz="2200" i="1" dirty="0">
                <a:solidFill>
                  <a:schemeClr val="accent2"/>
                </a:solidFill>
              </a:rPr>
              <a:t>← aunties after ToiPlan</a:t>
            </a:r>
            <a:endParaRPr lang="en-US" sz="2200" dirty="0"/>
          </a:p>
        </p:txBody>
      </p:sp>
      <p:sp>
        <p:nvSpPr>
          <p:cNvPr id="4" name="Text 0"/>
          <p:cNvSpPr/>
          <p:nvPr>
            <p:ph idx="100" type="title" hasCustomPrompt="1"/>
          </p:nvPr>
        </p:nvSpPr>
        <p:spPr>
          <a:xfrm>
            <a:off x="731520" y="2103120"/>
            <a:ext cx="10698480" cy="1371600"/>
          </a:xfrm>
          <a:prstGeom prst="rect">
            <a:avLst/>
          </a:prstGeom>
          <a:noFill/>
          <a:ln/>
        </p:spPr>
        <p:txBody>
          <a:bodyPr wrap="square" lIns="0" tIns="0" rIns="0" bIns="0" rtlCol="0" anchor="b"/>
          <a:lstStyle/>
          <a:p>
            <a:pPr algn="l" indent="0" marL="0">
              <a:buNone/>
            </a:pPr>
            <a:r>
              <a:rPr lang="en-US" sz="6000" b="1" dirty="0">
                <a:solidFill>
                  <a:schemeClr val="bg1"/>
                </a:solidFill>
              </a:rPr>
              <a:t>Рахмат! Thank you</a:t>
            </a:r>
            <a:endParaRPr lang="en-US" sz="6000" dirty="0"/>
          </a:p>
        </p:txBody>
      </p:sp>
      <p:sp>
        <p:nvSpPr>
          <p:cNvPr id="5" name="Text 0"/>
          <p:cNvSpPr/>
          <p:nvPr>
            <p:ph idx="101" type="body" hasCustomPrompt="1"/>
          </p:nvPr>
        </p:nvSpPr>
        <p:spPr>
          <a:xfrm>
            <a:off x="731520" y="3611880"/>
            <a:ext cx="10698480" cy="822960"/>
          </a:xfrm>
          <a:prstGeom prst="rect">
            <a:avLst/>
          </a:prstGeom>
          <a:noFill/>
          <a:ln/>
        </p:spPr>
        <p:txBody>
          <a:bodyPr wrap="square" lIns="0" tIns="0" rIns="0" bIns="0" rtlCol="0" anchor="t"/>
          <a:lstStyle/>
          <a:p>
            <a:pPr indent="0" marL="0">
              <a:buNone/>
            </a:pPr>
            <a:r>
              <a:rPr lang="en-US" sz="2600" dirty="0">
                <a:solidFill>
                  <a:schemeClr val="accent2"/>
                </a:solidFill>
              </a:rPr>
              <a:t>Questions? (No feuds, please 🙏)</a:t>
            </a:r>
            <a:endParaRPr lang="en-US" sz="2600" dirty="0"/>
          </a:p>
        </p:txBody>
      </p:sp>
      <p:sp>
        <p:nvSpPr>
          <p:cNvPr id="6" name="text-277"/>
          <p:cNvSpPr txBox="1"/>
          <p:nvPr/>
        </p:nvSpPr>
        <p:spPr>
          <a:xfrm>
            <a:off x="731520" y="5120640"/>
            <a:ext cx="10698480" cy="548640"/>
          </a:xfrm>
          <a:prstGeom prst="rect">
            <a:avLst/>
          </a:prstGeom>
          <a:noFill/>
          <a:ln/>
        </p:spPr>
        <p:txBody>
          <a:bodyPr wrap="square" lIns="0" tIns="0" rIns="0" bIns="0" rtlCol="0" anchor="t"/>
          <a:lstStyle/>
          <a:p>
            <a:pPr indent="0" marL="0">
              <a:buNone/>
            </a:pPr>
            <a:r>
              <a:rPr lang="en-US" sz="1800" dirty="0">
                <a:solidFill>
                  <a:schemeClr val="bg1"/>
                </a:solidFill>
              </a:rPr>
              <a:t>Code, README and results: </a:t>
            </a:r>
            <a:pPr indent="0" marL="0">
              <a:buNone/>
            </a:pPr>
            <a:r>
              <a:rPr lang="en-US" sz="1800" u="sng" dirty="0">
                <a:solidFill>
                  <a:schemeClr val="accent2"/>
                </a:solidFill>
                <a:hlinkClick r:id="rId1" invalidUrl="" action="" tgtFrame="" tooltip="" history="1" highlightClick="0" endSnd="0">
                  <a:extLst>
                    <a:ext uri="{A12FA001-AC4F-418D-AE19-62706E023703}">
                      <ahyp:hlinkClr xmlns:ahyp="http://schemas.microsoft.com/office/drawing/2018/hyperlinkcolor" val="tx"/>
                    </a:ext>
                  </a:extLst>
                </a:hlinkClick>
              </a:rPr>
              <a:t>github.com/iamthefamous/presentation</a:t>
            </a:r>
            <a:endParaRPr lang="en-US" sz="1800" dirty="0"/>
          </a:p>
        </p:txBody>
      </p:sp>
    </p:spTree>
  </p:cSld>
  <p:clrMapOvr>
    <a:masterClrMapping/>
  </p:clrMapOvr>
</p:sld>
</file>

<file path=ppt/theme/theme1.xml><?xml version="1.0" encoding="utf-8"?>
<a:theme xmlns:a="http://schemas.openxmlformats.org/drawingml/2006/main" name="ToiPlan">
  <a:themeElements>
    <a:clrScheme name="ToiPlan">
      <a:dk1>
        <a:srgbClr val="2A1A1F"/>
      </a:dk1>
      <a:lt1>
        <a:srgbClr val="FFFFFF"/>
      </a:lt1>
      <a:dk2>
        <a:srgbClr val="7A1020"/>
      </a:dk2>
      <a:lt2>
        <a:srgbClr val="F7F1F2"/>
      </a:lt2>
      <a:accent1>
        <a:srgbClr val="C8102E"/>
      </a:accent1>
      <a:accent2>
        <a:srgbClr val="F2B705"/>
      </a:accent2>
      <a:accent3>
        <a:srgbClr val="1B998B"/>
      </a:accent3>
      <a:accent4>
        <a:srgbClr val="6A4C93"/>
      </a:accent4>
      <a:accent5>
        <a:srgbClr val="E36414"/>
      </a:accent5>
      <a:accent6>
        <a:srgbClr val="7D7177"/>
      </a:accent6>
      <a:hlink>
        <a:srgbClr val="C8102E"/>
      </a:hlink>
      <a:folHlink>
        <a:srgbClr val="6A4C93"/>
      </a:folHlink>
    </a:clrScheme>
    <a:fontScheme name="ToiPlan">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ToiPlan: seating a toi with a Genetic Algorithm</dc:title>
  <dc:subject>PptxGenJS Presentation</dc:subject>
  <dc:creator>Asylbek Zhunusov, Emir Sakiev</dc:creator>
  <cp:lastModifiedBy>Asylbek Zhunusov, Emir Sakiev</cp:lastModifiedBy>
  <cp:revision>1</cp:revision>
  <dcterms:created xsi:type="dcterms:W3CDTF">2026-10-28T13:41:56Z</dcterms:created>
  <dcterms:modified xsi:type="dcterms:W3CDTF">2026-10-28T13:41:56Z</dcterms:modified>
</cp:coreProperties>
</file>